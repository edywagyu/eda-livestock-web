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061A1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-livestock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666750"/>
            <a:ext cx="533399" cy="442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1999" y="1619250"/>
            <a:ext cx="8572500" cy="1809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000" b="0" i="0" spc="1">
                <a:solidFill>
                  <a:srgbClr val="FFFFFF"/>
                </a:solidFill>
                <a:latin typeface="Bebas Neue"/>
              </a:rPr>
              <a:t>Livestock for</a:t>
            </a:r>
          </a:p>
          <a:p>
            <a:pPr>
              <a:lnSpc>
                <a:spcPct val="95000"/>
              </a:lnSpc>
            </a:pPr>
            <a:r>
              <a:rPr sz="6000" b="0" i="0" spc="1">
                <a:solidFill>
                  <a:srgbClr val="D4A93B"/>
                </a:solidFill>
                <a:latin typeface="Bebas Neue"/>
              </a:rPr>
              <a:t>The Next Century.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99" y="3619499"/>
            <a:ext cx="5905500" cy="76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80000"/>
              </a:lnSpc>
            </a:pPr>
            <a:r>
              <a:rPr sz="1200" b="0" i="0">
                <a:solidFill>
                  <a:srgbClr val="A9B5B1"/>
                </a:solidFill>
                <a:latin typeface="Noto Sans JP"/>
              </a:rPr>
              <a:t>無投薬 × 循環型飼料 × 世界初オーガニック認証和牛</a:t>
            </a:r>
          </a:p>
          <a:p>
            <a:pPr>
              <a:lnSpc>
                <a:spcPct val="180000"/>
              </a:lnSpc>
            </a:pPr>
            <a:r>
              <a:rPr sz="1200" b="0" i="0">
                <a:solidFill>
                  <a:srgbClr val="A9B5B1"/>
                </a:solidFill>
                <a:latin typeface="Noto Sans JP"/>
              </a:rPr>
              <a:t>宮崎から世界13カ国・4大陸へ —— 20代のチームが100年続く畜産を創る。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1999" y="4667249"/>
            <a:ext cx="9715500" cy="0"/>
          </a:xfrm>
          <a:prstGeom prst="line">
            <a:avLst/>
          </a:prstGeom>
          <a:ln w="9525">
            <a:solidFill>
              <a:srgbClr val="3C4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1999" y="4952999"/>
            <a:ext cx="20954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D4A93B"/>
                </a:solidFill>
                <a:latin typeface="Bebas Neue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5505450"/>
            <a:ext cx="2095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">
                <a:solidFill>
                  <a:srgbClr val="849690"/>
                </a:solidFill>
                <a:latin typeface="Bebas Neue"/>
              </a:rPr>
              <a:t>Countries · 4 Continents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2750" y="4952999"/>
            <a:ext cx="20954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D4A93B"/>
                </a:solidFill>
                <a:latin typeface="Bebas Neue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750" y="5505450"/>
            <a:ext cx="2095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">
                <a:solidFill>
                  <a:srgbClr val="849690"/>
                </a:solidFill>
                <a:latin typeface="Bebas Neue"/>
              </a:rPr>
              <a:t>Founded in Miyazaki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0" y="4952999"/>
            <a:ext cx="20954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D4A93B"/>
                </a:solidFill>
                <a:latin typeface="Bebas Neue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5505450"/>
            <a:ext cx="2095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">
                <a:solidFill>
                  <a:srgbClr val="849690"/>
                </a:solidFill>
                <a:latin typeface="Bebas Neue"/>
              </a:rPr>
              <a:t>World's First Organic Wagyu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49" y="4952999"/>
            <a:ext cx="209549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i="0">
                <a:solidFill>
                  <a:srgbClr val="D4A93B"/>
                </a:solidFill>
                <a:latin typeface="Bebas Neue"/>
              </a:rPr>
              <a:t>1</a:t>
            </a:r>
            <a:r>
              <a:rPr sz="1900" b="0" i="0">
                <a:solidFill>
                  <a:srgbClr val="D4A93B"/>
                </a:solidFill>
                <a:latin typeface="Bebas Neue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49" y="5505450"/>
            <a:ext cx="2095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">
                <a:solidFill>
                  <a:srgbClr val="849690"/>
                </a:solidFill>
                <a:latin typeface="Bebas Neue"/>
              </a:rPr>
              <a:t>Additive-Free Farms in Japan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0">
                <a:solidFill>
                  <a:srgbClr val="476158"/>
                </a:solidFill>
                <a:latin typeface="Bebas Neue"/>
              </a:rPr>
              <a:t>CONFIDENTIAL — EDA LIVESTOCK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99" y="533399"/>
            <a:ext cx="28575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OUR VISION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99" y="819149"/>
            <a:ext cx="5143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600" b="1" i="0">
                <a:solidFill>
                  <a:srgbClr val="0F3D2E"/>
                </a:solidFill>
                <a:latin typeface="Noto Serif JP"/>
              </a:rPr>
              <a:t>牛・生産者・消費者、</a:t>
            </a:r>
          </a:p>
          <a:p>
            <a:pPr>
              <a:lnSpc>
                <a:spcPct val="115000"/>
              </a:lnSpc>
            </a:pPr>
            <a:r>
              <a:rPr sz="2600" b="1" i="0">
                <a:solidFill>
                  <a:srgbClr val="D4A93B"/>
                </a:solidFill>
                <a:latin typeface="Noto Serif JP"/>
              </a:rPr>
              <a:t>三方よし</a:t>
            </a:r>
            <a:r>
              <a:rPr sz="2600" b="1" i="0">
                <a:solidFill>
                  <a:srgbClr val="0F3D2E"/>
                </a:solidFill>
                <a:latin typeface="Noto Serif JP"/>
              </a:rPr>
              <a:t>を、和牛で。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99" y="2438400"/>
            <a:ext cx="4762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6B6B6B"/>
                </a:solidFill>
                <a:latin typeface="Noto Sans JP"/>
              </a:rPr>
              <a:t>私たちは、和牛の生産を「三方よし」で再設計します。牛が穏やかに育ち、生産者が正当な対価を得て、消費者が安心して味わえる。この三者すべてが満足する仕組みこそ、100年続く畜産の条件です。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99" y="3962399"/>
            <a:ext cx="47625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6B6B6B"/>
                </a:solidFill>
                <a:latin typeface="Noto Sans JP"/>
              </a:rPr>
              <a:t>既存のスタンダードを否定するのではなく、新しい選択肢を増やす。それが私たちの立ち位置です。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199" y="533399"/>
            <a:ext cx="28575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INDUSTRY CHALLENGE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199" y="819149"/>
            <a:ext cx="3809999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0" i="0">
                <a:solidFill>
                  <a:srgbClr val="D4A93B"/>
                </a:solidFill>
                <a:latin typeface="Bebas Neue"/>
              </a:rPr>
              <a:t>70</a:t>
            </a:r>
            <a:r>
              <a:rPr sz="2200" b="0" i="0">
                <a:solidFill>
                  <a:srgbClr val="857D35"/>
                </a:solidFill>
                <a:latin typeface="Noto Serif JP"/>
              </a:rPr>
              <a:t>歳超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199" y="1676400"/>
            <a:ext cx="3809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3A7A0"/>
                </a:solidFill>
                <a:latin typeface="Noto Sans JP"/>
              </a:rPr>
              <a:t>日本の畜産業界 平均年齢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199" y="2200275"/>
            <a:ext cx="19050" cy="781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4649" y="2200275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0">
                <a:solidFill>
                  <a:srgbClr val="D4A93B"/>
                </a:solidFill>
                <a:latin typeface="Bebas Neue"/>
              </a:rPr>
              <a:t>01 — CATTLE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49" y="2371725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 spc="5">
                <a:solidFill>
                  <a:srgbClr val="FFFFFF"/>
                </a:solidFill>
                <a:latin typeface="Bebas Neue"/>
              </a:rPr>
              <a:t>For the Cattle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49" y="2619374"/>
            <a:ext cx="3047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i="0">
                <a:solidFill>
                  <a:srgbClr val="C3CECA"/>
                </a:solidFill>
                <a:latin typeface="Noto Sans JP"/>
              </a:rPr>
              <a:t>化学物質に頼らず、十分な空間と時間で穏やかに育つ環境。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3199" y="3200400"/>
            <a:ext cx="19050" cy="781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4649" y="320040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0">
                <a:solidFill>
                  <a:srgbClr val="D4A93B"/>
                </a:solidFill>
                <a:latin typeface="Bebas Neue"/>
              </a:rPr>
              <a:t>02 — PRODUCER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49" y="33718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 spc="5">
                <a:solidFill>
                  <a:srgbClr val="FFFFFF"/>
                </a:solidFill>
                <a:latin typeface="Bebas Neue"/>
              </a:rPr>
              <a:t>For the 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49" y="3619499"/>
            <a:ext cx="3047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i="0">
                <a:solidFill>
                  <a:srgbClr val="C3CECA"/>
                </a:solidFill>
                <a:latin typeface="Noto Sans JP"/>
              </a:rPr>
              <a:t>直接輸出と適正価格で、生産者がきちんと利益を得られる仕組み。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3199" y="4200525"/>
            <a:ext cx="19050" cy="781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4649" y="4200525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0">
                <a:solidFill>
                  <a:srgbClr val="D4A93B"/>
                </a:solidFill>
                <a:latin typeface="Bebas Neue"/>
              </a:rPr>
              <a:t>03 — 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49" y="4371975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 spc="5">
                <a:solidFill>
                  <a:srgbClr val="FFFFFF"/>
                </a:solidFill>
                <a:latin typeface="Bebas Neue"/>
              </a:rPr>
              <a:t>For the 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49" y="4619625"/>
            <a:ext cx="3047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i="0">
                <a:solidFill>
                  <a:srgbClr val="C3CECA"/>
                </a:solidFill>
                <a:latin typeface="Noto Sans JP"/>
              </a:rPr>
              <a:t>安全で味わい深く、透明性のある肉を世界の食卓に。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A09E9A"/>
                </a:solidFill>
                <a:latin typeface="Bebas Neue"/>
              </a:rPr>
              <a:t>EDA-LIVESTOCK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A09E9A"/>
                </a:solidFill>
                <a:latin typeface="Bebas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399"/>
            <a:ext cx="109728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 spc="22">
                <a:solidFill>
                  <a:srgbClr val="D4A93B"/>
                </a:solidFill>
                <a:latin typeface="Bebas Neue"/>
              </a:rPr>
              <a:t>— OUR PHILOSOPHY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0972800" cy="4762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0" i="0" spc="2">
                <a:solidFill>
                  <a:srgbClr val="FFFFFF"/>
                </a:solidFill>
                <a:latin typeface="Bebas Neue"/>
              </a:rPr>
              <a:t>Not the Rank, </a:t>
            </a:r>
            <a:r>
              <a:rPr sz="3600" b="0" i="0" spc="2">
                <a:solidFill>
                  <a:srgbClr val="D4A93B"/>
                </a:solidFill>
                <a:latin typeface="Bebas Neue"/>
              </a:rPr>
              <a:t>But How They're Raised.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99" y="1314450"/>
            <a:ext cx="6095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90A09B"/>
                </a:solidFill>
                <a:latin typeface="Noto Sans JP"/>
              </a:rPr>
              <a:t>A5・BMS・産地名 —— これまで和牛は数字とラベルで語られてきました。私たちが大切にするのは、その手前にある「どう育てたか」です。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190749"/>
            <a:ext cx="2571750" cy="4000500"/>
          </a:xfrm>
          <a:prstGeom prst="rect">
            <a:avLst/>
          </a:prstGeom>
          <a:solidFill>
            <a:srgbClr val="133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190749"/>
            <a:ext cx="2571750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49" y="2457450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0">
                <a:solidFill>
                  <a:srgbClr val="D4A93B"/>
                </a:solidFill>
                <a:latin typeface="Bebas Neue"/>
              </a:rPr>
              <a:t>01 / CIRCULAR</a:t>
            </a:r>
          </a:p>
        </p:txBody>
      </p:sp>
      <p:sp>
        <p:nvSpPr>
          <p:cNvPr id="9" name="Oval 8"/>
          <p:cNvSpPr/>
          <p:nvPr/>
        </p:nvSpPr>
        <p:spPr>
          <a:xfrm>
            <a:off x="819149" y="2838450"/>
            <a:ext cx="419100" cy="419100"/>
          </a:xfrm>
          <a:prstGeom prst="ellipse">
            <a:avLst/>
          </a:prstGeom>
          <a:noFill/>
          <a:ln w="1905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49" y="28384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D4A93B"/>
                </a:solidFill>
                <a:latin typeface="Arial"/>
              </a:rPr>
              <a:t>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49" y="3409950"/>
            <a:ext cx="21526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spc="5">
                <a:solidFill>
                  <a:srgbClr val="FFFFFF"/>
                </a:solidFill>
                <a:latin typeface="Bebas Neue"/>
              </a:rPr>
              <a:t>Circular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49" y="3695699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32F"/>
                </a:solidFill>
                <a:latin typeface="Noto Sans JP"/>
              </a:rPr>
              <a:t>循環型飼料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49" y="4000500"/>
            <a:ext cx="21526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C1CAC7"/>
                </a:solidFill>
                <a:latin typeface="Noto Sans JP"/>
              </a:rPr>
              <a:t>自社の堆肥から飼料を育て、再び牛に与える。輸入飼料に頼らない、国産循環型の畜産を実践。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9950" y="2190749"/>
            <a:ext cx="2571750" cy="4000500"/>
          </a:xfrm>
          <a:prstGeom prst="rect">
            <a:avLst/>
          </a:prstGeom>
          <a:solidFill>
            <a:srgbClr val="133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9950" y="2190749"/>
            <a:ext cx="2571750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9" y="2457450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0">
                <a:solidFill>
                  <a:srgbClr val="D4A93B"/>
                </a:solidFill>
                <a:latin typeface="Bebas Neue"/>
              </a:rPr>
              <a:t>02 / PURE</a:t>
            </a:r>
          </a:p>
        </p:txBody>
      </p:sp>
      <p:sp>
        <p:nvSpPr>
          <p:cNvPr id="17" name="Oval 16"/>
          <p:cNvSpPr/>
          <p:nvPr/>
        </p:nvSpPr>
        <p:spPr>
          <a:xfrm>
            <a:off x="3619499" y="2838450"/>
            <a:ext cx="419100" cy="419100"/>
          </a:xfrm>
          <a:prstGeom prst="ellipse">
            <a:avLst/>
          </a:prstGeom>
          <a:noFill/>
          <a:ln w="1905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9499" y="28384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D4A93B"/>
                </a:solidFill>
                <a:latin typeface="Arial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99" y="3409950"/>
            <a:ext cx="21526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spc="5">
                <a:solidFill>
                  <a:srgbClr val="FFFFFF"/>
                </a:solidFill>
                <a:latin typeface="Bebas Neue"/>
              </a:rPr>
              <a:t>No Chemical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499" y="3695699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32F"/>
                </a:solidFill>
                <a:latin typeface="Noto Sans JP"/>
              </a:rPr>
              <a:t>抗生物質 · ホルモン剤 ゼロ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499" y="4000500"/>
            <a:ext cx="21526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C1CAC7"/>
                </a:solidFill>
                <a:latin typeface="Noto Sans JP"/>
              </a:rPr>
              <a:t>抗生物質・成長促進剤・ホルモン剤いずれも一切不使用。日本でこれを徹底する農家は1%未満。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0299" y="2190749"/>
            <a:ext cx="2571750" cy="4000500"/>
          </a:xfrm>
          <a:prstGeom prst="rect">
            <a:avLst/>
          </a:prstGeom>
          <a:solidFill>
            <a:srgbClr val="133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299" y="2190749"/>
            <a:ext cx="2571750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850" y="2457450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0">
                <a:solidFill>
                  <a:srgbClr val="D4A93B"/>
                </a:solidFill>
                <a:latin typeface="Bebas Neue"/>
              </a:rPr>
              <a:t>03 / WELFARE</a:t>
            </a:r>
          </a:p>
        </p:txBody>
      </p:sp>
      <p:sp>
        <p:nvSpPr>
          <p:cNvPr id="25" name="Oval 24"/>
          <p:cNvSpPr/>
          <p:nvPr/>
        </p:nvSpPr>
        <p:spPr>
          <a:xfrm>
            <a:off x="6419850" y="2838450"/>
            <a:ext cx="419100" cy="419100"/>
          </a:xfrm>
          <a:prstGeom prst="ellipse">
            <a:avLst/>
          </a:prstGeom>
          <a:noFill/>
          <a:ln w="1905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850" y="28384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D4A93B"/>
                </a:solidFill>
                <a:latin typeface="Arial"/>
              </a:rPr>
              <a:t>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850" y="3409950"/>
            <a:ext cx="21526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spc="5">
                <a:solidFill>
                  <a:srgbClr val="FFFFFF"/>
                </a:solidFill>
                <a:latin typeface="Bebas Neue"/>
              </a:rPr>
              <a:t>Animal Welfare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3695699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32F"/>
                </a:solidFill>
                <a:latin typeface="Noto Sans JP"/>
              </a:rPr>
              <a:t>アニマルウェルフェア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4000500"/>
            <a:ext cx="21526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C1CAC7"/>
                </a:solidFill>
                <a:latin typeface="Noto Sans JP"/>
              </a:rPr>
              <a:t>有機規格に準じた広い牛舎と屋根付き運動場。ストレスのない環境で健やかに育成。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0650" y="2190749"/>
            <a:ext cx="2571750" cy="4000500"/>
          </a:xfrm>
          <a:prstGeom prst="rect">
            <a:avLst/>
          </a:prstGeom>
          <a:solidFill>
            <a:srgbClr val="133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10650" y="2190749"/>
            <a:ext cx="2571750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0199" y="2457450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0">
                <a:solidFill>
                  <a:srgbClr val="D4A93B"/>
                </a:solidFill>
                <a:latin typeface="Bebas Neue"/>
              </a:rPr>
              <a:t>04 / NATURAL</a:t>
            </a:r>
          </a:p>
        </p:txBody>
      </p:sp>
      <p:sp>
        <p:nvSpPr>
          <p:cNvPr id="33" name="Oval 32"/>
          <p:cNvSpPr/>
          <p:nvPr/>
        </p:nvSpPr>
        <p:spPr>
          <a:xfrm>
            <a:off x="9220199" y="2838450"/>
            <a:ext cx="419100" cy="419100"/>
          </a:xfrm>
          <a:prstGeom prst="ellipse">
            <a:avLst/>
          </a:prstGeom>
          <a:noFill/>
          <a:ln w="1905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0199" y="28384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D4A93B"/>
                </a:solidFill>
                <a:latin typeface="Arial"/>
              </a:rPr>
              <a:t>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199" y="3409950"/>
            <a:ext cx="21526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spc="5">
                <a:solidFill>
                  <a:srgbClr val="FFFFFF"/>
                </a:solidFill>
                <a:latin typeface="Bebas Neue"/>
              </a:rPr>
              <a:t>Mineral Water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0199" y="3695699"/>
            <a:ext cx="215265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32F"/>
                </a:solidFill>
                <a:latin typeface="Noto Sans JP"/>
              </a:rPr>
              <a:t>霧島連山の天然水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0199" y="4000500"/>
            <a:ext cx="21526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C1CAC7"/>
                </a:solidFill>
                <a:latin typeface="Noto Sans JP"/>
              </a:rPr>
              <a:t>霧島連山の伏流水を全頭の飲み水に使用。ミネラルが肉の旨みを底上げ。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849690"/>
                </a:solidFill>
                <a:latin typeface="Bebas Neue"/>
              </a:rPr>
              <a:t>EDA-LIVESTOCK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849690"/>
                </a:solidFill>
                <a:latin typeface="Bebas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76199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BRAND ARCHITECTURE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49"/>
            <a:ext cx="109728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0F3D2E"/>
                </a:solidFill>
                <a:latin typeface="Noto Serif JP"/>
              </a:rPr>
              <a:t>飼料の規定でブランド化する、</a:t>
            </a:r>
            <a:r>
              <a:rPr sz="2800" b="1" i="0">
                <a:solidFill>
                  <a:srgbClr val="D4A93B"/>
                </a:solidFill>
                <a:latin typeface="Noto Serif JP"/>
              </a:rPr>
              <a:t>日本唯一の和牛。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23949"/>
            <a:ext cx="104774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Noto Sans JP"/>
              </a:rPr>
              <a:t>産地ではなく「飼料」と「飼育方法」でブランドを規定。等級指定可能、産地指定は金額UP。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571625"/>
            <a:ext cx="5295899" cy="3905249"/>
          </a:xfrm>
          <a:prstGeom prst="rect">
            <a:avLst/>
          </a:prstGeom>
          <a:solidFill>
            <a:srgbClr val="FFFFFF"/>
          </a:solidFill>
          <a:ln w="9525">
            <a:solidFill>
              <a:srgbClr val="EFE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299" y="1800225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3D2E"/>
                </a:solidFill>
                <a:latin typeface="Bebas Neue"/>
              </a:rPr>
              <a:t>Eda Wagyu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99" y="2162174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932F"/>
                </a:solidFill>
                <a:latin typeface="Noto Sans JP"/>
              </a:rPr>
              <a:t>江田和牛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99" y="252412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8349" y="252412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循環型飼料使用（自社堆肥起点）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6299" y="2752725"/>
            <a:ext cx="4762500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6299" y="288607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CHEMICAL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8349" y="288607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抗生物質 · ホルモン剤 不使用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6299" y="3114675"/>
            <a:ext cx="4762500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6299" y="3248024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8349" y="3248024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A3以上 · 28ヶ月以上肥育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6299" y="3476624"/>
            <a:ext cx="4762500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6299" y="360997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8349" y="360997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宮崎 · 鹿児島 · 東北（北海道 · 青森 · 秋田）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6299" y="3838574"/>
            <a:ext cx="4762500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6299" y="397192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WATER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8349" y="397192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天然水（霧島連山伏流水）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6299" y="4200525"/>
            <a:ext cx="4762500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6299" y="433387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8349" y="433387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等級指定可 / 産地指定は金額UP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6299" y="4562475"/>
            <a:ext cx="4762500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86500" y="1571625"/>
            <a:ext cx="5295899" cy="3905249"/>
          </a:xfrm>
          <a:prstGeom prst="rect">
            <a:avLst/>
          </a:prstGeom>
          <a:solidFill>
            <a:srgbClr val="F3EAD8"/>
          </a:solidFill>
          <a:ln w="1270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8899" y="1457325"/>
            <a:ext cx="1143000" cy="22860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8899" y="14573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15">
                <a:solidFill>
                  <a:srgbClr val="0F3D2E"/>
                </a:solidFill>
                <a:latin typeface="Bebas Neue"/>
              </a:rPr>
              <a:t>WORLD'S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199" y="1800225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3D2E"/>
                </a:solidFill>
                <a:latin typeface="Bebas Neue"/>
              </a:rPr>
              <a:t>Premium EdaWagyu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199" y="2162174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932F"/>
                </a:solidFill>
                <a:latin typeface="Noto Sans JP"/>
              </a:rPr>
              <a:t>特選江田和牛 · 有機JAS認証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3199" y="252412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ORGANIC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0" y="252412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有機JAS認証 · EU Leaf 同等性承認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53199" y="2752725"/>
            <a:ext cx="4762501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53199" y="288607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FEED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5250" y="288607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100% 有機認証飼料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53199" y="3114675"/>
            <a:ext cx="4762501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53199" y="3248024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5250" y="3248024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世界初のオーガニック認証黒毛和牛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53199" y="3476624"/>
            <a:ext cx="4762501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53199" y="360997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LAUNCH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5250" y="360997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2026年2月 ローンチ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53199" y="3838574"/>
            <a:ext cx="4762501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53199" y="397192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SALES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5250" y="397192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江田和牛お客様限定販売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53199" y="4200525"/>
            <a:ext cx="4762501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53199" y="4333875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0" y="4333875"/>
            <a:ext cx="36766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Noto Sans JP"/>
              </a:rPr>
              <a:t>江田畜産のみが生産・販売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53199" y="4562475"/>
            <a:ext cx="4762501" cy="0"/>
          </a:xfrm>
          <a:prstGeom prst="line">
            <a:avLst/>
          </a:prstGeom>
          <a:ln w="6350">
            <a:solidFill>
              <a:srgbClr val="E7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09600" y="5629275"/>
            <a:ext cx="10972800" cy="476249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5629275"/>
            <a:ext cx="10972800" cy="4762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Noto Sans JP"/>
              </a:rPr>
              <a:t>日本の和牛ブランドで「飼料の規定」によるブランド化を実現しているのは</a:t>
            </a:r>
            <a:r>
              <a:rPr sz="1000" b="1" i="0">
                <a:solidFill>
                  <a:srgbClr val="D4A93B"/>
                </a:solidFill>
                <a:latin typeface="Noto Sans JP"/>
              </a:rPr>
              <a:t>江田畜産のみ</a:t>
            </a:r>
            <a:r>
              <a:rPr sz="1000" b="0" i="0">
                <a:solidFill>
                  <a:srgbClr val="FFFFFF"/>
                </a:solidFill>
                <a:latin typeface="Noto Sans JP"/>
              </a:rPr>
              <a:t>です。オーガニック和牛は</a:t>
            </a:r>
            <a:r>
              <a:rPr sz="1000" b="1" i="0">
                <a:solidFill>
                  <a:srgbClr val="D4A93B"/>
                </a:solidFill>
                <a:latin typeface="Noto Sans JP"/>
              </a:rPr>
              <a:t>世界で唯一、江田畜産だけ</a:t>
            </a:r>
            <a:r>
              <a:rPr sz="1000" b="0" i="0">
                <a:solidFill>
                  <a:srgbClr val="FFFFFF"/>
                </a:solidFill>
                <a:latin typeface="Noto Sans JP"/>
              </a:rPr>
              <a:t>が生産しています。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A09E9A"/>
                </a:solidFill>
                <a:latin typeface="Bebas Neue"/>
              </a:rPr>
              <a:t>EDA-LIVESTOCK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A09E9A"/>
                </a:solidFill>
                <a:latin typeface="Bebas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99" y="457200"/>
            <a:ext cx="5715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COMPANY PROFILE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99" y="704849"/>
            <a:ext cx="5715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3D2E"/>
                </a:solidFill>
                <a:latin typeface="Noto Serif JP"/>
              </a:rPr>
              <a:t>会社概要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99" y="1238249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1238249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江田畜産株式会社 / Eda Livestock Co., Ltd.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399" y="1523999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3399" y="1581149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REPRESENTATIVE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1581149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代表取締役 江田 友輝（Tomoki Eda）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3399" y="1866899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399" y="1924049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FOUNDED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4500" y="1924049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2023年4月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3399" y="2209800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3399" y="2266950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2266950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黒毛和牛 繁殖 · 肥育 · 小売 · 輸出 · スマート畜産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3399" y="2552700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3399" y="2609850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FARMS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4500" y="2609850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宮崎 · 鹿児島 · 東北（北海道 · 青森 · 秋田）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3399" y="2895600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399" y="2952750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HQ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4500" y="2952750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〒889-4411 宮崎県西諸県郡高原町大字広原 2025-2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3399" y="3238500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3399" y="3295650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BRANDS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500" y="3295650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Eda Wagyu / Premium EdaWagyu（有機JAS · EU Leaf同等性）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3399" y="3581400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3399" y="3638550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4500" y="3638550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世界13カ国 · 4大陸 · 直接輸出100%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3399" y="3924299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3399" y="3981449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SETTLEMENT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4500" y="3981449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円建て（JPY）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3399" y="4267199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399" y="4324349"/>
            <a:ext cx="104774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B8932F"/>
                </a:solidFill>
                <a:latin typeface="Bebas Neue"/>
              </a:rPr>
              <a:t>PARTNERS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4500" y="4324349"/>
            <a:ext cx="4572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SoftBank · TOYOTA (TTDC) · 内閣府クールジャパン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3399" y="4610099"/>
            <a:ext cx="6038851" cy="0"/>
          </a:xfrm>
          <a:prstGeom prst="line">
            <a:avLst/>
          </a:prstGeom>
          <a:ln w="63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86432" y="685800"/>
            <a:ext cx="3809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INTEGRATED FARMING 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432" y="933449"/>
            <a:ext cx="3809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erif JP"/>
              </a:rPr>
              <a:t>一貫農業フロー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432" y="1571625"/>
            <a:ext cx="342900" cy="342900"/>
          </a:xfrm>
          <a:prstGeom prst="rect">
            <a:avLst/>
          </a:prstGeom>
          <a:noFill/>
          <a:ln w="1270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432" y="157162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682" y="1590675"/>
            <a:ext cx="4286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 JP"/>
              </a:rPr>
              <a:t>分娩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2682" y="1781174"/>
            <a:ext cx="428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5">
                <a:solidFill>
                  <a:srgbClr val="879E96"/>
                </a:solidFill>
                <a:latin typeface="Bebas Neue"/>
              </a:rPr>
              <a:t>Birth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432" y="1990724"/>
            <a:ext cx="342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432" y="2295525"/>
            <a:ext cx="342900" cy="342900"/>
          </a:xfrm>
          <a:prstGeom prst="rect">
            <a:avLst/>
          </a:prstGeom>
          <a:noFill/>
          <a:ln w="1270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432" y="229552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682" y="2314575"/>
            <a:ext cx="4286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 JP"/>
              </a:rPr>
              <a:t>繁殖（10ヶ月前後）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2682" y="2505074"/>
            <a:ext cx="428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5">
                <a:solidFill>
                  <a:srgbClr val="879E96"/>
                </a:solidFill>
                <a:latin typeface="Bebas Neue"/>
              </a:rPr>
              <a:t>Breeding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432" y="2714625"/>
            <a:ext cx="342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432" y="3019424"/>
            <a:ext cx="342900" cy="342900"/>
          </a:xfrm>
          <a:prstGeom prst="rect">
            <a:avLst/>
          </a:prstGeom>
          <a:noFill/>
          <a:ln w="1270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86432" y="3019424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2682" y="3038475"/>
            <a:ext cx="4286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 JP"/>
              </a:rPr>
              <a:t>肥育（20ヶ月以上）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2682" y="3228975"/>
            <a:ext cx="428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5">
                <a:solidFill>
                  <a:srgbClr val="879E96"/>
                </a:solidFill>
                <a:latin typeface="Bebas Neue"/>
              </a:rPr>
              <a:t>Fattening · 28ヶ月+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432" y="3438525"/>
            <a:ext cx="342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86432" y="3743325"/>
            <a:ext cx="342900" cy="342900"/>
          </a:xfrm>
          <a:prstGeom prst="rect">
            <a:avLst/>
          </a:prstGeom>
          <a:noFill/>
          <a:ln w="1270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432" y="374332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62682" y="3762374"/>
            <a:ext cx="4286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Noto Sans JP"/>
              </a:rPr>
              <a:t>出荷 → 世界13カ国へ直接輸出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2682" y="3952874"/>
            <a:ext cx="428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5">
                <a:solidFill>
                  <a:srgbClr val="879E96"/>
                </a:solidFill>
                <a:latin typeface="Bebas Neue"/>
              </a:rPr>
              <a:t>Direct Export · 円建て決済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432" y="5048250"/>
            <a:ext cx="428625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93A7A0"/>
                </a:solidFill>
                <a:latin typeface="Noto Sans JP"/>
              </a:rPr>
              <a:t>繁殖と肥育の両方を経営する一貫農業。仔牛の段階から飼料と環境を管理し、トレーサビリティを完全担保。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A09E9A"/>
                </a:solidFill>
                <a:latin typeface="Bebas Neue"/>
              </a:rPr>
              <a:t>EDA-LIVESTOCK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A09E9A"/>
                </a:solidFill>
                <a:latin typeface="Bebas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399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 spc="22">
                <a:solidFill>
                  <a:srgbClr val="D4A93B"/>
                </a:solidFill>
                <a:latin typeface="Bebas Neue"/>
              </a:rPr>
              <a:t>— WHERE EDA WAGYU IS SERVED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0" i="0" spc="2">
                <a:solidFill>
                  <a:srgbClr val="FFFFFF"/>
                </a:solidFill>
                <a:latin typeface="Bebas Neue"/>
              </a:rPr>
              <a:t>Trusted by </a:t>
            </a:r>
            <a:r>
              <a:rPr sz="3600" b="0" i="0" spc="2">
                <a:solidFill>
                  <a:srgbClr val="D4A93B"/>
                </a:solidFill>
                <a:latin typeface="Bebas Neue"/>
              </a:rPr>
              <a:t>The World's Finest.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33500"/>
            <a:ext cx="109728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79E96"/>
                </a:solidFill>
                <a:latin typeface="Noto Sans JP"/>
              </a:rPr>
              <a:t>日本国内外の三ツ星ホテル・高級百貨店で採用。創業3年で21拠点に拡大。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57375"/>
            <a:ext cx="2628900" cy="2095499"/>
          </a:xfrm>
          <a:prstGeom prst="rect">
            <a:avLst/>
          </a:prstGeom>
          <a:solidFill>
            <a:srgbClr val="1A432E"/>
          </a:solidFill>
          <a:ln w="635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49" y="2486025"/>
            <a:ext cx="2438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 spc="8">
                <a:solidFill>
                  <a:srgbClr val="FFFFFF"/>
                </a:solidFill>
                <a:latin typeface="Bebas Neue"/>
              </a:rPr>
              <a:t>The Ritz-Carlton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49" y="3219449"/>
            <a:ext cx="24384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 i="0" spc="5">
                <a:solidFill>
                  <a:srgbClr val="7B948C"/>
                </a:solidFill>
                <a:latin typeface="Noto Sans JP"/>
              </a:rPr>
              <a:t>Tokyo · Fukuoka · Hong Kong · New York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899" y="1857375"/>
            <a:ext cx="2628900" cy="2095499"/>
          </a:xfrm>
          <a:prstGeom prst="rect">
            <a:avLst/>
          </a:prstGeom>
          <a:solidFill>
            <a:srgbClr val="1A432E"/>
          </a:solidFill>
          <a:ln w="635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6150" y="2486025"/>
            <a:ext cx="2438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 spc="8">
                <a:solidFill>
                  <a:srgbClr val="FFFFFF"/>
                </a:solidFill>
                <a:latin typeface="Bebas Neue"/>
              </a:rPr>
              <a:t>Four Seasons Hotel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6150" y="3219449"/>
            <a:ext cx="24384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 i="0" spc="5">
                <a:solidFill>
                  <a:srgbClr val="7B948C"/>
                </a:solidFill>
                <a:latin typeface="Noto Sans JP"/>
              </a:rPr>
              <a:t>Tokyo at Otemachi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57375"/>
            <a:ext cx="2628900" cy="2095499"/>
          </a:xfrm>
          <a:prstGeom prst="rect">
            <a:avLst/>
          </a:prstGeom>
          <a:solidFill>
            <a:srgbClr val="164234"/>
          </a:solidFill>
          <a:ln w="6350">
            <a:solidFill>
              <a:srgbClr val="2B5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7449" y="2486025"/>
            <a:ext cx="2438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 spc="8">
                <a:solidFill>
                  <a:srgbClr val="FFFFFF"/>
                </a:solidFill>
                <a:latin typeface="Bebas Neue"/>
              </a:rPr>
              <a:t>Tokyo Station Hotel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49" y="3219449"/>
            <a:ext cx="24384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 i="0" spc="5">
                <a:solidFill>
                  <a:srgbClr val="7B948C"/>
                </a:solidFill>
                <a:latin typeface="Noto Sans JP"/>
              </a:rPr>
              <a:t>日本重要文化財 · 東京駅丸の内駅舎内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3500" y="1857375"/>
            <a:ext cx="2628900" cy="2095499"/>
          </a:xfrm>
          <a:prstGeom prst="rect">
            <a:avLst/>
          </a:prstGeom>
          <a:solidFill>
            <a:srgbClr val="164234"/>
          </a:solidFill>
          <a:ln w="6350">
            <a:solidFill>
              <a:srgbClr val="2B5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8749" y="2486025"/>
            <a:ext cx="2438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 spc="8">
                <a:solidFill>
                  <a:srgbClr val="FFFFFF"/>
                </a:solidFill>
                <a:latin typeface="Bebas Neue"/>
              </a:rPr>
              <a:t>Tokyo Edition Ginza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49" y="3219449"/>
            <a:ext cx="24384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 i="0" spc="5">
                <a:solidFill>
                  <a:srgbClr val="7B948C"/>
                </a:solidFill>
                <a:latin typeface="Noto Sans JP"/>
              </a:rPr>
              <a:t>Marriott Luxury · 銀座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105274"/>
            <a:ext cx="2628900" cy="2095499"/>
          </a:xfrm>
          <a:prstGeom prst="rect">
            <a:avLst/>
          </a:prstGeom>
          <a:solidFill>
            <a:srgbClr val="164234"/>
          </a:solidFill>
          <a:ln w="6350">
            <a:solidFill>
              <a:srgbClr val="2B5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49" y="4733925"/>
            <a:ext cx="2438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 spc="8">
                <a:solidFill>
                  <a:srgbClr val="FFFFFF"/>
                </a:solidFill>
                <a:latin typeface="Bebas Neue"/>
              </a:rPr>
              <a:t>city'super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49" y="5467349"/>
            <a:ext cx="24384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 i="0" spc="5">
                <a:solidFill>
                  <a:srgbClr val="7B948C"/>
                </a:solidFill>
                <a:latin typeface="Noto Sans JP"/>
              </a:rPr>
              <a:t>Hong Kong 全店展開 · IFC, Times Square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90899" y="4105274"/>
            <a:ext cx="2628900" cy="2095499"/>
          </a:xfrm>
          <a:prstGeom prst="rect">
            <a:avLst/>
          </a:prstGeom>
          <a:solidFill>
            <a:srgbClr val="164234"/>
          </a:solidFill>
          <a:ln w="6350">
            <a:solidFill>
              <a:srgbClr val="2B5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6150" y="4733925"/>
            <a:ext cx="2438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 spc="8">
                <a:solidFill>
                  <a:srgbClr val="FFFFFF"/>
                </a:solidFill>
                <a:latin typeface="Bebas Neue"/>
              </a:rPr>
              <a:t>Mitsukoshi · Keio</a:t>
            </a:r>
          </a:p>
          <a:p>
            <a:pPr algn="ctr">
              <a:lnSpc>
                <a:spcPct val="115000"/>
              </a:lnSpc>
            </a:pPr>
            <a:r>
              <a:rPr sz="1600" b="0" i="0" spc="8">
                <a:solidFill>
                  <a:srgbClr val="FFFFFF"/>
                </a:solidFill>
                <a:latin typeface="Bebas Neue"/>
              </a:rPr>
              <a:t>Department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6150" y="5467349"/>
            <a:ext cx="24384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 i="0" spc="5">
                <a:solidFill>
                  <a:srgbClr val="7B948C"/>
                </a:solidFill>
                <a:latin typeface="Noto Sans JP"/>
              </a:rPr>
              <a:t>三越銀座 · 日本橋 / 京王新宿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849690"/>
                </a:solidFill>
                <a:latin typeface="Bebas Neue"/>
              </a:rPr>
              <a:t>EDA-LIVESTOCK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849690"/>
                </a:solidFill>
                <a:latin typeface="Bebas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6674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GLOBAL PRESENCE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49"/>
            <a:ext cx="6667499" cy="4762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 spc="2">
                <a:solidFill>
                  <a:srgbClr val="FFFFFF"/>
                </a:solidFill>
                <a:latin typeface="Bebas Neue"/>
              </a:rPr>
              <a:t>Farm to </a:t>
            </a:r>
            <a:r>
              <a:rPr sz="3600" b="0" i="0" spc="2">
                <a:solidFill>
                  <a:srgbClr val="D4A93B"/>
                </a:solidFill>
                <a:latin typeface="Bebas Neue"/>
              </a:rPr>
              <a:t>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999" y="781050"/>
            <a:ext cx="40005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60000"/>
              </a:lnSpc>
            </a:pPr>
            <a:r>
              <a:rPr sz="1000" b="0" i="0">
                <a:solidFill>
                  <a:srgbClr val="788B84"/>
                </a:solidFill>
                <a:latin typeface="Noto Sans JP"/>
              </a:rPr>
              <a:t>商社を介さない直接輸出100%。</a:t>
            </a:r>
          </a:p>
          <a:p>
            <a:pPr algn="r">
              <a:lnSpc>
                <a:spcPct val="160000"/>
              </a:lnSpc>
            </a:pPr>
            <a:r>
              <a:rPr sz="1000" b="0" i="0">
                <a:solidFill>
                  <a:srgbClr val="788B84"/>
                </a:solidFill>
                <a:latin typeface="Noto Sans JP"/>
              </a:rPr>
              <a:t>創業1年で1カ国、2年で7カ国、3年で13カ国。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23999"/>
            <a:ext cx="20954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D4A93B"/>
                </a:solidFill>
                <a:latin typeface="Bebas Neue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47899"/>
            <a:ext cx="20954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">
                <a:solidFill>
                  <a:srgbClr val="90A09B"/>
                </a:solidFill>
                <a:latin typeface="Bebas Neue"/>
              </a:rPr>
              <a:t>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9349" y="1523999"/>
            <a:ext cx="20954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D4A93B"/>
                </a:solidFill>
                <a:latin typeface="Bebas Neue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9349" y="2247899"/>
            <a:ext cx="20954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">
                <a:solidFill>
                  <a:srgbClr val="90A09B"/>
                </a:solidFill>
                <a:latin typeface="Bebas Neue"/>
              </a:rPr>
              <a:t>CONTINENTS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9100" y="1523999"/>
            <a:ext cx="209549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i="0">
                <a:solidFill>
                  <a:srgbClr val="D4A93B"/>
                </a:solidFill>
                <a:latin typeface="Bebas Neue"/>
              </a:rPr>
              <a:t>100</a:t>
            </a:r>
            <a:r>
              <a:rPr sz="2200" b="0" i="0">
                <a:solidFill>
                  <a:srgbClr val="D4A93B"/>
                </a:solidFill>
                <a:latin typeface="Bebas Neue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2247899"/>
            <a:ext cx="20954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">
                <a:solidFill>
                  <a:srgbClr val="90A09B"/>
                </a:solidFill>
                <a:latin typeface="Bebas Neue"/>
              </a:rPr>
              <a:t>DIRECT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62249"/>
            <a:ext cx="5143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">
                <a:solidFill>
                  <a:srgbClr val="D4A93B"/>
                </a:solidFill>
                <a:latin typeface="Bebas Neue"/>
              </a:rPr>
              <a:t>ASIA · 7 COUNTRIES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" y="2990849"/>
            <a:ext cx="5143499" cy="0"/>
          </a:xfrm>
          <a:prstGeom prst="line">
            <a:avLst/>
          </a:prstGeom>
          <a:ln w="6350">
            <a:solidFill>
              <a:srgbClr val="324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9600" y="3095625"/>
            <a:ext cx="1028700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309562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🇭🇰 Hong Kong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5449" y="3095625"/>
            <a:ext cx="1028700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52599" y="309562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🇸🇬 Singapore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1300" y="3095625"/>
            <a:ext cx="952499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8450" y="3095625"/>
            <a:ext cx="838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🇹🇭 Thailand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0949" y="3095625"/>
            <a:ext cx="876299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8099" y="3095625"/>
            <a:ext cx="76199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🇻🇳 Vietnam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4399" y="3095625"/>
            <a:ext cx="800100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1549" y="3095625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🇹🇼 Taiwan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381375"/>
            <a:ext cx="952499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750" y="3381375"/>
            <a:ext cx="838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🇲🇾 Malaysia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19250" y="3381375"/>
            <a:ext cx="1028700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76400" y="338137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🇮🇩 Indonesia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3809999"/>
            <a:ext cx="5143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">
                <a:solidFill>
                  <a:srgbClr val="D4A93B"/>
                </a:solidFill>
                <a:latin typeface="Bebas Neue"/>
              </a:rPr>
              <a:t>EUROPE · 4 COUNTRIES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" y="4038599"/>
            <a:ext cx="5143499" cy="0"/>
          </a:xfrm>
          <a:prstGeom prst="line">
            <a:avLst/>
          </a:prstGeom>
          <a:ln w="6350">
            <a:solidFill>
              <a:srgbClr val="324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9600" y="4143375"/>
            <a:ext cx="876299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750" y="4143375"/>
            <a:ext cx="76199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🇩🇪 Germany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43050" y="4143375"/>
            <a:ext cx="876299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4143375"/>
            <a:ext cx="76199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🇫🇮 Finland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76499" y="4143375"/>
            <a:ext cx="723900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33649" y="4143375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🇪🇸 Spain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57550" y="4143375"/>
            <a:ext cx="723900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4700" y="4143375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🇮🇹 Italy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6500" y="2762249"/>
            <a:ext cx="5143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">
                <a:solidFill>
                  <a:srgbClr val="D4A93B"/>
                </a:solidFill>
                <a:latin typeface="Bebas Neue"/>
              </a:rPr>
              <a:t>AMERICAS · 1 COUNTRY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86500" y="2990849"/>
            <a:ext cx="5143500" cy="0"/>
          </a:xfrm>
          <a:prstGeom prst="line">
            <a:avLst/>
          </a:prstGeom>
          <a:ln w="6350">
            <a:solidFill>
              <a:srgbClr val="324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286500" y="3095625"/>
            <a:ext cx="1409699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3650" y="3095625"/>
            <a:ext cx="129539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🇺🇸 USA (New York)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3619499"/>
            <a:ext cx="5143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">
                <a:solidFill>
                  <a:srgbClr val="D4A93B"/>
                </a:solidFill>
                <a:latin typeface="Bebas Neue"/>
              </a:rPr>
              <a:t>OCEANIA · 1 COUNTRY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86500" y="3848099"/>
            <a:ext cx="5143500" cy="0"/>
          </a:xfrm>
          <a:prstGeom prst="line">
            <a:avLst/>
          </a:prstGeom>
          <a:ln w="6350">
            <a:solidFill>
              <a:srgbClr val="324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286500" y="3952874"/>
            <a:ext cx="1028700" cy="228600"/>
          </a:xfrm>
          <a:prstGeom prst="rect">
            <a:avLst/>
          </a:prstGeom>
          <a:solidFill>
            <a:srgbClr val="1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3650" y="395287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ED5D2"/>
                </a:solidFill>
                <a:latin typeface="Noto Sans JP"/>
              </a:rPr>
              <a:t>🇦🇺 Australia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91300" y="4476750"/>
            <a:ext cx="5219700" cy="0"/>
          </a:xfrm>
          <a:prstGeom prst="line">
            <a:avLst/>
          </a:prstGeom>
          <a:ln w="6350">
            <a:solidFill>
              <a:srgbClr val="1D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67499" y="5181599"/>
            <a:ext cx="7619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D4A93B"/>
                </a:solidFill>
                <a:latin typeface="Bebas Neue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19900" y="5486400"/>
            <a:ext cx="457200" cy="228600"/>
          </a:xfrm>
          <a:prstGeom prst="rect">
            <a:avLst/>
          </a:prstGeom>
          <a:solidFill>
            <a:srgbClr val="D4A93B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499" y="5715000"/>
            <a:ext cx="761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0">
                <a:solidFill>
                  <a:srgbClr val="849690"/>
                </a:solidFill>
                <a:latin typeface="Bebas Neue"/>
              </a:rPr>
              <a:t>YEAR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5250" y="4743450"/>
            <a:ext cx="7619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D4A93B"/>
                </a:solidFill>
                <a:latin typeface="Bebas Neue"/>
              </a:rPr>
              <a:t>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7649" y="5048250"/>
            <a:ext cx="457200" cy="666750"/>
          </a:xfrm>
          <a:prstGeom prst="rect">
            <a:avLst/>
          </a:prstGeom>
          <a:solidFill>
            <a:srgbClr val="D4A93B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15250" y="5715000"/>
            <a:ext cx="761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0">
                <a:solidFill>
                  <a:srgbClr val="849690"/>
                </a:solidFill>
                <a:latin typeface="Bebas Neue"/>
              </a:rPr>
              <a:t>YEAR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62999" y="4267199"/>
            <a:ext cx="7619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D4A93B"/>
                </a:solidFill>
                <a:latin typeface="Bebas Neue"/>
              </a:rPr>
              <a:t>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5400" y="4572000"/>
            <a:ext cx="457200" cy="1143000"/>
          </a:xfrm>
          <a:prstGeom prst="rect">
            <a:avLst/>
          </a:prstGeom>
          <a:solidFill>
            <a:srgbClr val="D4A93B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62999" y="5715000"/>
            <a:ext cx="761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0">
                <a:solidFill>
                  <a:srgbClr val="849690"/>
                </a:solidFill>
                <a:latin typeface="Bebas Neue"/>
              </a:rPr>
              <a:t>YEAR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849690"/>
                </a:solidFill>
                <a:latin typeface="Bebas Neue"/>
              </a:rPr>
              <a:t>EDA-LIVESTOCK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849690"/>
                </a:solidFill>
                <a:latin typeface="Bebas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76199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CERTIFICATIONS &amp; STANDARDS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49"/>
            <a:ext cx="109728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0F3D2E"/>
                </a:solidFill>
                <a:latin typeface="Noto Serif JP"/>
              </a:rPr>
              <a:t>世界基準の認証群で、</a:t>
            </a:r>
            <a:r>
              <a:rPr sz="2600" b="1" i="0">
                <a:solidFill>
                  <a:srgbClr val="D4A93B"/>
                </a:solidFill>
                <a:latin typeface="Noto Serif JP"/>
              </a:rPr>
              <a:t>信頼をデータで証明する。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285875"/>
            <a:ext cx="2600325" cy="1381124"/>
          </a:xfrm>
          <a:prstGeom prst="rect">
            <a:avLst/>
          </a:prstGeom>
          <a:solidFill>
            <a:srgbClr val="FFFFFF"/>
          </a:solidFill>
          <a:ln w="9525">
            <a:solidFill>
              <a:srgbClr val="EFE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457325"/>
            <a:ext cx="2600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D4A93B"/>
                </a:solidFill>
                <a:latin typeface="Arial"/>
              </a:rPr>
              <a:t>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76424"/>
            <a:ext cx="2600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 spc="8">
                <a:solidFill>
                  <a:srgbClr val="0F3D2E"/>
                </a:solidFill>
                <a:latin typeface="Bebas Neue"/>
              </a:rPr>
              <a:t>HALAL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43125"/>
            <a:ext cx="2600325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マレーシア・インドネシア等</a:t>
            </a:r>
          </a:p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イスラム圏への輸出対応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0425" y="1285875"/>
            <a:ext cx="2600325" cy="1381124"/>
          </a:xfrm>
          <a:prstGeom prst="rect">
            <a:avLst/>
          </a:prstGeom>
          <a:solidFill>
            <a:srgbClr val="FFFFFF"/>
          </a:solidFill>
          <a:ln w="9525">
            <a:solidFill>
              <a:srgbClr val="EFE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0425" y="1457325"/>
            <a:ext cx="2600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D4A93B"/>
                </a:solidFill>
                <a:latin typeface="Arial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0425" y="1876424"/>
            <a:ext cx="2600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 spc="8">
                <a:solidFill>
                  <a:srgbClr val="0F3D2E"/>
                </a:solidFill>
                <a:latin typeface="Bebas Neue"/>
              </a:rPr>
              <a:t>USDA Organic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25" y="2143125"/>
            <a:ext cx="2600325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アメリカ農務省</a:t>
            </a:r>
          </a:p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有機認証（申請中）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1285875"/>
            <a:ext cx="2600325" cy="1381124"/>
          </a:xfrm>
          <a:prstGeom prst="rect">
            <a:avLst/>
          </a:prstGeom>
          <a:solidFill>
            <a:srgbClr val="FFFFFF"/>
          </a:solidFill>
          <a:ln w="9525">
            <a:solidFill>
              <a:srgbClr val="EFE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1250" y="1457325"/>
            <a:ext cx="2600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D4A93B"/>
                </a:solidFill>
                <a:latin typeface="Arial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0" y="1876424"/>
            <a:ext cx="2600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 spc="8">
                <a:solidFill>
                  <a:srgbClr val="0F3D2E"/>
                </a:solidFill>
                <a:latin typeface="Bebas Neue"/>
              </a:rPr>
              <a:t>EU Leaf 同等性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0" y="2143125"/>
            <a:ext cx="2600325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欧州連合オーガニック認証</a:t>
            </a:r>
          </a:p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同等性承認済み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2075" y="1285875"/>
            <a:ext cx="2600325" cy="1381124"/>
          </a:xfrm>
          <a:prstGeom prst="rect">
            <a:avLst/>
          </a:prstGeom>
          <a:solidFill>
            <a:srgbClr val="F8F3E8"/>
          </a:solidFill>
          <a:ln w="12700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2075" y="1457325"/>
            <a:ext cx="2600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D4A93B"/>
                </a:solidFill>
                <a:latin typeface="Arial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2075" y="1876424"/>
            <a:ext cx="2600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 spc="8">
                <a:solidFill>
                  <a:srgbClr val="0F3D2E"/>
                </a:solidFill>
                <a:latin typeface="Bebas Neue"/>
              </a:rPr>
              <a:t>有機JAS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2075" y="2143125"/>
            <a:ext cx="2600325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世界初 オーガニック認証</a:t>
            </a:r>
          </a:p>
          <a:p>
            <a:pPr algn="ctr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黒毛和牛（2026年1月取得）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905124"/>
            <a:ext cx="2095499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12">
                <a:solidFill>
                  <a:srgbClr val="6B6B6B"/>
                </a:solidFill>
                <a:latin typeface="Bebas Neue"/>
              </a:rPr>
              <a:t>項目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" y="3267075"/>
            <a:ext cx="10972800" cy="0"/>
          </a:xfrm>
          <a:prstGeom prst="line">
            <a:avLst/>
          </a:prstGeom>
          <a:ln w="19050">
            <a:solidFill>
              <a:srgbClr val="EFE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05099" y="2905124"/>
            <a:ext cx="2095499" cy="36195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5099" y="2905124"/>
            <a:ext cx="2095499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12">
                <a:solidFill>
                  <a:srgbClr val="FFFFFF"/>
                </a:solidFill>
                <a:latin typeface="Bebas Neue"/>
              </a:rPr>
              <a:t>EDA WAGYU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905124"/>
            <a:ext cx="2095499" cy="36195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905124"/>
            <a:ext cx="2095499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12">
                <a:solidFill>
                  <a:srgbClr val="FFFFFF"/>
                </a:solidFill>
                <a:latin typeface="Bebas Neue"/>
              </a:rPr>
              <a:t>PREMIUM EDA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96099" y="2905124"/>
            <a:ext cx="4686300" cy="361950"/>
          </a:xfrm>
          <a:prstGeom prst="rect">
            <a:avLst/>
          </a:prstGeom>
          <a:solidFill>
            <a:srgbClr val="EF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6099" y="2905124"/>
            <a:ext cx="46863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12">
                <a:solidFill>
                  <a:srgbClr val="6B6B6B"/>
                </a:solidFill>
                <a:latin typeface="Bebas Neue"/>
              </a:rPr>
              <a:t>一般的な和牛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3267075"/>
            <a:ext cx="18668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抗生物質 · ホルモン剤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5099" y="3267075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✓ 不使用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267075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✓ 不使用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6099" y="3267075"/>
            <a:ext cx="4686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9E9A"/>
                </a:solidFill>
                <a:latin typeface="Noto Sans JP"/>
              </a:rPr>
              <a:t>使用あり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" y="3609975"/>
            <a:ext cx="10972800" cy="0"/>
          </a:xfrm>
          <a:prstGeom prst="line">
            <a:avLst/>
          </a:prstGeom>
          <a:ln w="5080">
            <a:solidFill>
              <a:srgbClr val="EE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3900" y="3609975"/>
            <a:ext cx="18668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飼料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5099" y="3609975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循環型飼料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609975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有機認証飼料100%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6099" y="3609975"/>
            <a:ext cx="4686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9E9A"/>
                </a:solidFill>
                <a:latin typeface="Noto Sans JP"/>
              </a:rPr>
              <a:t>輸入配合飼料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600" y="3952874"/>
            <a:ext cx="10972800" cy="0"/>
          </a:xfrm>
          <a:prstGeom prst="line">
            <a:avLst/>
          </a:prstGeom>
          <a:ln w="5080">
            <a:solidFill>
              <a:srgbClr val="EE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3900" y="3952874"/>
            <a:ext cx="18668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オーガニック認証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5099" y="3952874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A8885"/>
                </a:solidFill>
                <a:latin typeface="Noto Sans JP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3952874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3D2E"/>
                </a:solidFill>
                <a:latin typeface="Noto Sans JP"/>
              </a:rPr>
              <a:t>✓ 世界唯一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6099" y="3952874"/>
            <a:ext cx="4686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9E9A"/>
                </a:solidFill>
                <a:latin typeface="Noto Sans JP"/>
              </a:rPr>
              <a:t>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600" y="4295774"/>
            <a:ext cx="10972800" cy="0"/>
          </a:xfrm>
          <a:prstGeom prst="line">
            <a:avLst/>
          </a:prstGeom>
          <a:ln w="5080">
            <a:solidFill>
              <a:srgbClr val="EE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23900" y="4295774"/>
            <a:ext cx="18668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アニマルウェルフェア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05099" y="4295774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✓ 対応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4295774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✓ 有機規格準拠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96099" y="4295774"/>
            <a:ext cx="4686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9E9A"/>
                </a:solidFill>
                <a:latin typeface="Noto Sans JP"/>
              </a:rPr>
              <a:t>基準なし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09600" y="4638674"/>
            <a:ext cx="10972800" cy="0"/>
          </a:xfrm>
          <a:prstGeom prst="line">
            <a:avLst/>
          </a:prstGeom>
          <a:ln w="5080">
            <a:solidFill>
              <a:srgbClr val="EE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23900" y="4638674"/>
            <a:ext cx="18668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Noto Sans JP"/>
              </a:rPr>
              <a:t>HALAL対応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5099" y="4638674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✓ 対応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4638674"/>
            <a:ext cx="209549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F3D2E"/>
                </a:solidFill>
                <a:latin typeface="Noto Sans JP"/>
              </a:rPr>
              <a:t>✓ 対応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96099" y="4638674"/>
            <a:ext cx="4686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9E9A"/>
                </a:solidFill>
                <a:latin typeface="Noto Sans JP"/>
              </a:rPr>
              <a:t>一部のみ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9600" y="4981574"/>
            <a:ext cx="10972800" cy="0"/>
          </a:xfrm>
          <a:prstGeom prst="line">
            <a:avLst/>
          </a:prstGeom>
          <a:ln w="5080">
            <a:solidFill>
              <a:srgbClr val="EE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A09E9A"/>
                </a:solidFill>
                <a:latin typeface="Bebas Neue"/>
              </a:rPr>
              <a:t>EDA-LIVESTOCK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A09E9A"/>
                </a:solidFill>
                <a:latin typeface="Bebas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 spc="22">
                <a:solidFill>
                  <a:srgbClr val="D4A93B"/>
                </a:solidFill>
                <a:latin typeface="Bebas Neue"/>
              </a:rPr>
              <a:t>— BUSINESS MODEL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49"/>
            <a:ext cx="10972800" cy="4762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0" i="0" spc="2">
                <a:solidFill>
                  <a:srgbClr val="FFFFFF"/>
                </a:solidFill>
                <a:latin typeface="Bebas Neue"/>
              </a:rPr>
              <a:t>Domestic Feed → </a:t>
            </a:r>
            <a:r>
              <a:rPr sz="3600" b="0" i="0" spc="2">
                <a:solidFill>
                  <a:srgbClr val="D4A93B"/>
                </a:solidFill>
                <a:latin typeface="Bebas Neue"/>
              </a:rPr>
              <a:t>Global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49"/>
            <a:ext cx="109728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79E96"/>
                </a:solidFill>
                <a:latin typeface="Noto Sans JP"/>
              </a:rPr>
              <a:t>国内で飼料をつくり、世界へ出荷する。円安が進むほど、このモデルは強くなる。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595437" y="2095499"/>
            <a:ext cx="1571625" cy="761999"/>
          </a:xfrm>
          <a:prstGeom prst="rect">
            <a:avLst/>
          </a:prstGeom>
          <a:solidFill>
            <a:srgbClr val="1F4A3C"/>
          </a:solidFill>
          <a:ln w="6350">
            <a:solidFill>
              <a:srgbClr val="335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95437" y="2266950"/>
            <a:ext cx="1571625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6">
                <a:solidFill>
                  <a:srgbClr val="FFFFFF"/>
                </a:solidFill>
                <a:latin typeface="Noto Serif JP"/>
              </a:rPr>
              <a:t>自社堆肥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5437" y="2552700"/>
            <a:ext cx="15716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9FB1AB"/>
                </a:solidFill>
                <a:latin typeface="Noto Sans JP"/>
              </a:rPr>
              <a:t>Compost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7062" y="2095499"/>
            <a:ext cx="285750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D4A93B"/>
                </a:solidFill>
                <a:latin typeface="Bebas Neue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2812" y="2095499"/>
            <a:ext cx="1571625" cy="761999"/>
          </a:xfrm>
          <a:prstGeom prst="rect">
            <a:avLst/>
          </a:prstGeom>
          <a:solidFill>
            <a:srgbClr val="1F4A3C"/>
          </a:solidFill>
          <a:ln w="6350">
            <a:solidFill>
              <a:srgbClr val="335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2812" y="2266950"/>
            <a:ext cx="1571625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6">
                <a:solidFill>
                  <a:srgbClr val="FFFFFF"/>
                </a:solidFill>
                <a:latin typeface="Noto Serif JP"/>
              </a:rPr>
              <a:t>循環型飼料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2812" y="2552700"/>
            <a:ext cx="15716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9FB1AB"/>
                </a:solidFill>
                <a:latin typeface="Noto Sans JP"/>
              </a:rPr>
              <a:t>Circular 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4437" y="2095499"/>
            <a:ext cx="285750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D4A93B"/>
                </a:solidFill>
                <a:latin typeface="Bebas Neue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10187" y="2095499"/>
            <a:ext cx="1571625" cy="761999"/>
          </a:xfrm>
          <a:prstGeom prst="rect">
            <a:avLst/>
          </a:prstGeom>
          <a:solidFill>
            <a:srgbClr val="1F4A3C"/>
          </a:solidFill>
          <a:ln w="6350">
            <a:solidFill>
              <a:srgbClr val="335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0187" y="2266950"/>
            <a:ext cx="1571625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6">
                <a:solidFill>
                  <a:srgbClr val="FFFFFF"/>
                </a:solidFill>
                <a:latin typeface="Noto Serif JP"/>
              </a:rPr>
              <a:t>一貫農業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0187" y="2552700"/>
            <a:ext cx="15716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9FB1AB"/>
                </a:solidFill>
                <a:latin typeface="Noto Sans JP"/>
              </a:rPr>
              <a:t>Integrated Farming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1812" y="2095499"/>
            <a:ext cx="285750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D4A93B"/>
                </a:solidFill>
                <a:latin typeface="Bebas Neue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67562" y="2095499"/>
            <a:ext cx="1571625" cy="761999"/>
          </a:xfrm>
          <a:prstGeom prst="rect">
            <a:avLst/>
          </a:prstGeom>
          <a:solidFill>
            <a:srgbClr val="1E452F"/>
          </a:solidFill>
          <a:ln w="9525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67562" y="2266950"/>
            <a:ext cx="1571625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6">
                <a:solidFill>
                  <a:srgbClr val="FFFFFF"/>
                </a:solidFill>
                <a:latin typeface="Noto Serif JP"/>
              </a:rPr>
              <a:t>直接輸出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7562" y="2552700"/>
            <a:ext cx="15716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9FB1AB"/>
                </a:solidFill>
                <a:latin typeface="Noto Sans JP"/>
              </a:rPr>
              <a:t>13 Countries · 円建て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9187" y="2095499"/>
            <a:ext cx="285750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D4A93B"/>
                </a:solidFill>
                <a:latin typeface="Bebas Neue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4937" y="2095499"/>
            <a:ext cx="1571625" cy="761999"/>
          </a:xfrm>
          <a:prstGeom prst="rect">
            <a:avLst/>
          </a:prstGeom>
          <a:solidFill>
            <a:srgbClr val="1E452F"/>
          </a:solidFill>
          <a:ln w="9525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4937" y="2266950"/>
            <a:ext cx="1571625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6">
                <a:solidFill>
                  <a:srgbClr val="FFFFFF"/>
                </a:solidFill>
                <a:latin typeface="Noto Serif JP"/>
              </a:rPr>
              <a:t>再投資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4937" y="2552700"/>
            <a:ext cx="15716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9FB1AB"/>
                </a:solidFill>
                <a:latin typeface="Noto Sans JP"/>
              </a:rPr>
              <a:t>Reinvest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905249"/>
            <a:ext cx="3505199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4057650"/>
            <a:ext cx="35051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">
                <a:solidFill>
                  <a:srgbClr val="FFFFFF"/>
                </a:solidFill>
                <a:latin typeface="Noto Serif JP"/>
              </a:rPr>
              <a:t>国内飼料生産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381499"/>
            <a:ext cx="3505199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B7C4C0"/>
                </a:solidFill>
                <a:latin typeface="Noto Sans JP"/>
              </a:rPr>
              <a:t>循環農業のスケールアップ。北海道・九州の有機認証農家との連携。輸入依存からの脱却。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905249"/>
            <a:ext cx="3505199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057650"/>
            <a:ext cx="35051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">
                <a:solidFill>
                  <a:srgbClr val="FFFFFF"/>
                </a:solidFill>
                <a:latin typeface="Noto Serif JP"/>
              </a:rPr>
              <a:t>円建て決済（JPY）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381499"/>
            <a:ext cx="3505199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B7C4C0"/>
                </a:solidFill>
                <a:latin typeface="Noto Sans JP"/>
              </a:rPr>
              <a:t>全取引を円建てで決済。為替リスクを排除し、安定した収益構造を実現。外貨獲得型モデル。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7199" y="3905249"/>
            <a:ext cx="3505199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7199" y="4057650"/>
            <a:ext cx="35051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6">
                <a:solidFill>
                  <a:srgbClr val="FFFFFF"/>
                </a:solidFill>
                <a:latin typeface="Noto Serif JP"/>
              </a:rPr>
              <a:t>Smart Agriculture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7199" y="4381499"/>
            <a:ext cx="3505199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B7C4C0"/>
                </a:solidFill>
                <a:latin typeface="Noto Sans JP"/>
              </a:rPr>
              <a:t>SoftBank・TOYOTA(TTDC)と共同でAI画像解析・IoTセンシングによるスマート畜産を実証実験中。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849690"/>
                </a:solidFill>
                <a:latin typeface="Bebas Neue"/>
              </a:rPr>
              <a:t>EDA-LIVESTOCK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849690"/>
                </a:solidFill>
                <a:latin typeface="Bebas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">
                <a:solidFill>
                  <a:srgbClr val="D4A93B"/>
                </a:solidFill>
                <a:latin typeface="Bebas Neue"/>
              </a:rPr>
              <a:t>— OUR TEAM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49"/>
            <a:ext cx="7810499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F3D2E"/>
                </a:solidFill>
                <a:latin typeface="Noto Serif JP"/>
              </a:rPr>
              <a:t>平均年齢70歳超の業界に、</a:t>
            </a:r>
            <a:r>
              <a:rPr sz="2200" b="1" i="0">
                <a:solidFill>
                  <a:srgbClr val="D4A93B"/>
                </a:solidFill>
                <a:latin typeface="Noto Serif JP"/>
              </a:rPr>
              <a:t>20代のチーム</a:t>
            </a:r>
            <a:r>
              <a:rPr sz="2200" b="1" i="0">
                <a:solidFill>
                  <a:srgbClr val="0F3D2E"/>
                </a:solidFill>
                <a:latin typeface="Noto Serif JP"/>
              </a:rPr>
              <a:t>が挑む。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761999"/>
            <a:ext cx="30099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60000"/>
              </a:lnSpc>
            </a:pPr>
            <a:r>
              <a:rPr sz="950" b="0" i="0">
                <a:solidFill>
                  <a:srgbClr val="6B6B6B"/>
                </a:solidFill>
                <a:latin typeface="Noto Sans JP"/>
              </a:rPr>
              <a:t>戦略コンサル出身、海外大学卒、国際営業、有機JAS推進 —— 多様なバックグラウンドが強み。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81124"/>
            <a:ext cx="2600325" cy="2762249"/>
          </a:xfrm>
          <a:prstGeom prst="rect">
            <a:avLst/>
          </a:prstGeom>
          <a:solidFill>
            <a:srgbClr val="F4ECDD"/>
          </a:solidFill>
          <a:ln w="9525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4962" y="1571625"/>
            <a:ext cx="609600" cy="609600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a-tomok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571625"/>
            <a:ext cx="609600" cy="609600"/>
          </a:xfrm>
          <a:prstGeom prst="ellipse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849" y="2314575"/>
            <a:ext cx="2409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">
                <a:solidFill>
                  <a:srgbClr val="B8932F"/>
                </a:solidFill>
                <a:latin typeface="Bebas Neue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49" y="2486025"/>
            <a:ext cx="24098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3D2E"/>
                </a:solidFill>
                <a:latin typeface="Bebas Neue"/>
              </a:rPr>
              <a:t>Tomoki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49" y="2705099"/>
            <a:ext cx="2409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Noto Sans JP"/>
              </a:rPr>
              <a:t>江田 友輝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2952750"/>
            <a:ext cx="2295525" cy="123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宮崎出身。日大商学部在学中にNZ・米留学。21歳で独立。27歳で江田畜産を創業、100年先の畜産を設計。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0425" y="1381124"/>
            <a:ext cx="2600325" cy="2762249"/>
          </a:xfrm>
          <a:prstGeom prst="rect">
            <a:avLst/>
          </a:prstGeom>
          <a:solidFill>
            <a:srgbClr val="F4ECDD"/>
          </a:solidFill>
          <a:ln w="9525">
            <a:solidFill>
              <a:srgbClr val="D4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5787" y="1571625"/>
            <a:ext cx="609600" cy="609600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ana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787" y="1571625"/>
            <a:ext cx="609600" cy="609600"/>
          </a:xfrm>
          <a:prstGeom prst="ellipse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95675" y="2314575"/>
            <a:ext cx="2409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">
                <a:solidFill>
                  <a:srgbClr val="B8932F"/>
                </a:solidFill>
                <a:latin typeface="Bebas Neue"/>
              </a:rPr>
              <a:t>CO-FOUNDER · COO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5675" y="2486025"/>
            <a:ext cx="24098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3D2E"/>
                </a:solidFill>
                <a:latin typeface="Bebas Neue"/>
              </a:rPr>
              <a:t>Rei Tanaka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5675" y="2705099"/>
            <a:ext cx="2409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Noto Sans JP"/>
              </a:rPr>
              <a:t>田中 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825" y="2952750"/>
            <a:ext cx="2295525" cy="123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早稲田大学卒。ベイカレント・コンサルティングで戦略・DXコンサルに従事。2023年共同創業。財務・オペレーション統括。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0" y="1381124"/>
            <a:ext cx="2600325" cy="2762249"/>
          </a:xfrm>
          <a:prstGeom prst="rect">
            <a:avLst/>
          </a:prstGeom>
          <a:solidFill>
            <a:srgbClr val="FFFFFF"/>
          </a:solidFill>
          <a:ln w="6350">
            <a:solidFill>
              <a:srgbClr val="EFE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6612" y="1571625"/>
            <a:ext cx="609600" cy="609600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612" y="1571625"/>
            <a:ext cx="609600" cy="609600"/>
          </a:xfrm>
          <a:prstGeom prst="ellipse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86500" y="2314575"/>
            <a:ext cx="2409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">
                <a:solidFill>
                  <a:srgbClr val="B8932F"/>
                </a:solidFill>
                <a:latin typeface="Bebas Neue"/>
              </a:rPr>
              <a:t>INTERNATIONAL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2486025"/>
            <a:ext cx="24098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3D2E"/>
                </a:solidFill>
                <a:latin typeface="Bebas Neue"/>
              </a:rPr>
              <a:t>Valjon Qejvani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2705099"/>
            <a:ext cx="2409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Noto Sans JP"/>
              </a:rPr>
              <a:t>バルヨン · ケジヴァニ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3650" y="2952750"/>
            <a:ext cx="2295525" cy="123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ウェスタンミシガン大学卒。米大手マーケティング会社を経て2023年ジョイン。HK・NY・EU開拓。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2075" y="1381124"/>
            <a:ext cx="2600325" cy="2762249"/>
          </a:xfrm>
          <a:prstGeom prst="rect">
            <a:avLst/>
          </a:prstGeom>
          <a:solidFill>
            <a:srgbClr val="FFFFFF"/>
          </a:solidFill>
          <a:ln w="6350">
            <a:solidFill>
              <a:srgbClr val="EFE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77437" y="1571625"/>
            <a:ext cx="609600" cy="609600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non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437" y="1571625"/>
            <a:ext cx="609600" cy="609600"/>
          </a:xfrm>
          <a:prstGeom prst="ellipse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77324" y="2314575"/>
            <a:ext cx="2409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">
                <a:solidFill>
                  <a:srgbClr val="B8932F"/>
                </a:solidFill>
                <a:latin typeface="Bebas Neue"/>
              </a:rPr>
              <a:t>DOMESTIC · JAS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7324" y="2486025"/>
            <a:ext cx="24098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3D2E"/>
                </a:solidFill>
                <a:latin typeface="Bebas Neue"/>
              </a:rPr>
              <a:t>Keigo Nono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7324" y="2705099"/>
            <a:ext cx="2409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Noto Sans JP"/>
              </a:rPr>
              <a:t>野々 圭吾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474" y="2952750"/>
            <a:ext cx="2295525" cy="123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専修大学卒。国内営業と有機JAS認証プロジェクトリーダー。世界初オーガニック和牛の実装を牽引。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295774"/>
            <a:ext cx="10972800" cy="666750"/>
          </a:xfrm>
          <a:prstGeom prst="rect">
            <a:avLst/>
          </a:prstGeom>
          <a:solidFill>
            <a:srgbClr val="FFFFFF"/>
          </a:solidFill>
          <a:ln w="6350">
            <a:solidFill>
              <a:srgbClr val="EFE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1050" y="4400550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050" y="440055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D4A93B"/>
                </a:solidFill>
                <a:latin typeface="Bebas Neue"/>
              </a:rPr>
              <a:t>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0650" y="4410074"/>
            <a:ext cx="38099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">
                <a:solidFill>
                  <a:srgbClr val="B8932F"/>
                </a:solidFill>
                <a:latin typeface="Bebas Neue"/>
              </a:rPr>
              <a:t>PROJECT DIRECTOR · CHEF ADVISOR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0650" y="4581524"/>
            <a:ext cx="3809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3D2E"/>
                </a:solidFill>
                <a:latin typeface="Bebas Neue"/>
              </a:rPr>
              <a:t>Hitoshi Sugiura　</a:t>
            </a:r>
            <a:r>
              <a:rPr sz="950" b="0" i="0">
                <a:solidFill>
                  <a:srgbClr val="6B6B6B"/>
                </a:solidFill>
                <a:latin typeface="Noto Sans JP"/>
              </a:rPr>
              <a:t>杉浦 仁志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62600" y="4467224"/>
            <a:ext cx="60959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6B6B6B"/>
                </a:solidFill>
                <a:latin typeface="Noto Sans JP"/>
              </a:rPr>
              <a:t>内閣府クールジャパンプロデューサー。"Social Food Gastronomy" を提唱。国賓レセプション代表料理人。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A09E9A"/>
                </a:solidFill>
                <a:latin typeface="Bebas Neue"/>
              </a:rPr>
              <a:t>EDA-LIVESTOCK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A09E9A"/>
                </a:solidFill>
                <a:latin typeface="Bebas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 spc="22">
                <a:solidFill>
                  <a:srgbClr val="D4A93B"/>
                </a:solidFill>
                <a:latin typeface="Bebas Neue"/>
              </a:rPr>
              <a:t>— OUR JOURNEY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49"/>
            <a:ext cx="10972800" cy="4762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0" i="0" spc="2">
                <a:solidFill>
                  <a:srgbClr val="FFFFFF"/>
                </a:solidFill>
                <a:latin typeface="Bebas Neue"/>
              </a:rPr>
              <a:t>2023 — </a:t>
            </a:r>
            <a:r>
              <a:rPr sz="3800" b="0" i="0" spc="2">
                <a:solidFill>
                  <a:srgbClr val="D4A93B"/>
                </a:solidFill>
                <a:latin typeface="Bebas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57300"/>
            <a:ext cx="109728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88B84"/>
                </a:solidFill>
                <a:latin typeface="Noto Sans JP"/>
              </a:rPr>
              <a:t>創業からわずか3年。世界が注目する和牛ブランドへ。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57375"/>
            <a:ext cx="2600325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99" y="197167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D4A93B"/>
                </a:solidFill>
                <a:latin typeface="Bebas Neue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2409825"/>
            <a:ext cx="22955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2">
                <a:solidFill>
                  <a:srgbClr val="FFFFFF"/>
                </a:solidFill>
                <a:latin typeface="Bebas Neue"/>
              </a:rPr>
              <a:t>YEAR 1 —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27336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江田畜産株式会社 創業（宮崎県高原町）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1999" y="3190874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1999" y="324802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Eda Wagyu ブランド確立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1999" y="3705224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1999" y="37623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香港 city'super 直接輸出 開始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1999" y="4219575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1999" y="427672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無投薬 · 循環型飼料の体制構築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1999" y="4733925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0425" y="1857375"/>
            <a:ext cx="2600325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825" y="197167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D4A93B"/>
                </a:solidFill>
                <a:latin typeface="Bebas Neue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825" y="2409825"/>
            <a:ext cx="22955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2">
                <a:solidFill>
                  <a:srgbClr val="FFFFFF"/>
                </a:solidFill>
                <a:latin typeface="Bebas Neue"/>
              </a:rPr>
              <a:t>YEAR 2 —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2825" y="27336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輸出先 1→7カ国に拡大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52825" y="3190874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52825" y="324802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Ritz-Carlton · Four Seasons 採用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52825" y="3705224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52825" y="37623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東京ステーションホテル 採用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52825" y="4219575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52825" y="427672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SoftBank · TOYOTA(TTDC) スマート畜産実証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52825" y="4733925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91250" y="1857375"/>
            <a:ext cx="2600325" cy="19050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3650" y="197167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D4A93B"/>
                </a:solidFill>
                <a:latin typeface="Bebas Neue"/>
              </a:rPr>
              <a:t>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3650" y="2409825"/>
            <a:ext cx="22955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2">
                <a:solidFill>
                  <a:srgbClr val="FFFFFF"/>
                </a:solidFill>
                <a:latin typeface="Bebas Neue"/>
              </a:rPr>
              <a:t>YEAR 3 — ACCELERATION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3650" y="27336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輸出先 7→13カ国に拡大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43650" y="3190874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43650" y="324802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EU圏（独·芬·西·伊）本格展開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43650" y="3705224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43650" y="37623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Malaysia · Indonesia HALAL対応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43650" y="4219575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43650" y="427672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Ritz-Carlton Hong Kong · New York 採用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43650" y="4733925"/>
            <a:ext cx="2295525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982075" y="1714500"/>
            <a:ext cx="2600325" cy="4048124"/>
          </a:xfrm>
          <a:prstGeom prst="rect">
            <a:avLst/>
          </a:prstGeom>
          <a:solidFill>
            <a:srgbClr val="163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82075" y="1714500"/>
            <a:ext cx="2600325" cy="28575"/>
          </a:xfrm>
          <a:prstGeom prst="rect">
            <a:avLst/>
          </a:prstGeom>
          <a:solidFill>
            <a:srgbClr val="D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4474" y="197167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D4A93B"/>
                </a:solidFill>
                <a:latin typeface="Bebas Neue"/>
              </a:rPr>
              <a:t>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474" y="2409825"/>
            <a:ext cx="2295525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2">
                <a:solidFill>
                  <a:srgbClr val="FFFFFF"/>
                </a:solidFill>
                <a:latin typeface="Bebas Neue"/>
              </a:rPr>
              <a:t>NOW — WORLD'S FIRST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474" y="27336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D4A93B"/>
                </a:solidFill>
                <a:latin typeface="Noto Sans JP"/>
              </a:rPr>
              <a:t>• 世界初 有機JAS認証 黒毛和牛 取得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34474" y="3190874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134474" y="324802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D4A93B"/>
                </a:solidFill>
                <a:latin typeface="Noto Sans JP"/>
              </a:rPr>
              <a:t>• Premium EdaWagyu ローンチ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34474" y="3705224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34474" y="3762374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EU Leaf 同等性 承認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34474" y="4219575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34474" y="4276725"/>
            <a:ext cx="2295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B5C0BC"/>
                </a:solidFill>
                <a:latin typeface="Noto Sans JP"/>
              </a:rPr>
              <a:t>• オーストラリア市場 進出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34474" y="4733925"/>
            <a:ext cx="2295526" cy="0"/>
          </a:xfrm>
          <a:prstGeom prst="line">
            <a:avLst/>
          </a:prstGeom>
          <a:ln w="3810">
            <a:solidFill>
              <a:srgbClr val="183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3399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5">
                <a:solidFill>
                  <a:srgbClr val="849690"/>
                </a:solidFill>
                <a:latin typeface="Bebas Neue"/>
              </a:rPr>
              <a:t>EDA-LIVESTOCK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">
                <a:solidFill>
                  <a:srgbClr val="849690"/>
                </a:solidFill>
                <a:latin typeface="Bebas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da-livestock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23" y="761999"/>
            <a:ext cx="825848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714500"/>
            <a:ext cx="10972800" cy="4762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0" i="0" spc="2">
                <a:solidFill>
                  <a:srgbClr val="FFFFFF"/>
                </a:solidFill>
                <a:latin typeface="Bebas Neue"/>
              </a:rPr>
              <a:t>Let's Build </a:t>
            </a:r>
            <a:r>
              <a:rPr sz="4000" b="0" i="0" spc="2">
                <a:solidFill>
                  <a:srgbClr val="D4A93B"/>
                </a:solidFill>
                <a:latin typeface="Bebas Neue"/>
              </a:rPr>
              <a:t>The Future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33624"/>
            <a:ext cx="109728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200" b="0" i="0">
                <a:solidFill>
                  <a:srgbClr val="93A7A0"/>
                </a:solidFill>
                <a:latin typeface="Noto Sans JP"/>
              </a:rPr>
              <a:t>お問い合わせ・ご商談・サンプルリクエストは、以下までお気軽にご連絡ください。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2249" y="3143250"/>
            <a:ext cx="3047999" cy="9525"/>
          </a:xfrm>
          <a:prstGeom prst="rect">
            <a:avLst/>
          </a:prstGeom>
          <a:solidFill>
            <a:srgbClr val="405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62249" y="3314700"/>
            <a:ext cx="3047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15">
                <a:solidFill>
                  <a:srgbClr val="D4A93B"/>
                </a:solidFill>
                <a:latin typeface="Bebas Neue"/>
              </a:rPr>
              <a:t>HEADQUARTERS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2249" y="3619499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Noto Sans JP"/>
              </a:rPr>
              <a:t>江田畜産株式会社 / Eda Livestock Co.,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2249" y="3848099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Noto Sans JP"/>
              </a:rPr>
              <a:t>〒889-4411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2249" y="4076699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Noto Sans JP"/>
              </a:rPr>
              <a:t>宮崎県西諸県郡高原町大字広原 2025-2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2249" y="4381499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D4A93B"/>
                </a:solidFill>
                <a:latin typeface="Noto Sans JP"/>
              </a:rPr>
              <a:t>backoffice@eda-livestock.com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1749" y="3143250"/>
            <a:ext cx="3047999" cy="9525"/>
          </a:xfrm>
          <a:prstGeom prst="rect">
            <a:avLst/>
          </a:prstGeom>
          <a:solidFill>
            <a:srgbClr val="405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1749" y="3314700"/>
            <a:ext cx="3047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15">
                <a:solidFill>
                  <a:srgbClr val="D4A93B"/>
                </a:solidFill>
                <a:latin typeface="Bebas Neue"/>
              </a:rPr>
              <a:t>INTERNATIONAL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49" y="3619499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Noto Sans JP"/>
              </a:rPr>
              <a:t>Export Inquiry · Sample Request · 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49" y="3924299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D4A93B"/>
                </a:solidFill>
                <a:latin typeface="Noto Sans JP"/>
              </a:rPr>
              <a:t>international.sales@eda-livestock.com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49" y="4229100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C3CECA"/>
                </a:solidFill>
                <a:latin typeface="Noto Sans JP"/>
              </a:rPr>
              <a:t>Instagram: @eda_livestock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49" y="4457700"/>
            <a:ext cx="3047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D4A93B"/>
                </a:solidFill>
                <a:latin typeface="Noto Sans JP"/>
              </a:rPr>
              <a:t>Web: eda-livestock.com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20">
                <a:solidFill>
                  <a:srgbClr val="3F6357"/>
                </a:solidFill>
                <a:latin typeface="Bebas Neue"/>
              </a:rPr>
              <a:t>© 2026 EDA-LIVESTOCK CO., LTD.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