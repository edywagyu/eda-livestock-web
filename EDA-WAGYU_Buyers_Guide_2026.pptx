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da-livestock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1371600" cy="11390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200400"/>
            <a:ext cx="85039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Arial Black"/>
              </a:rPr>
              <a:t>Eda Wagyu</a:t>
            </a:r>
          </a:p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D4A93B"/>
                </a:solidFill>
                <a:latin typeface="Arial Black"/>
              </a:rPr>
              <a:t>Buyer's Guide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675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Arial"/>
              </a:rPr>
              <a:t>Antibiotic-free, hormone-free Japanese Black Wagyu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Arial"/>
              </a:rPr>
              <a:t>Direct from Miyazaki, Japan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465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404040"/>
                </a:solidFill>
                <a:latin typeface="Arial Black"/>
              </a:rPr>
              <a:t>CONFIDENTIAL — EDA LIVESTOCK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tl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0" y="8229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ABOUT US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188720"/>
            <a:ext cx="50292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Arial Black"/>
              </a:rPr>
              <a:t>Eda Livestock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D4A93B"/>
                </a:solidFill>
                <a:latin typeface="Arial Black"/>
              </a:rPr>
              <a:t>Co.,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60604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D1D1D1"/>
                </a:solidFill>
                <a:latin typeface="Arial"/>
              </a:rPr>
              <a:t>Founded in 2023 by </a:t>
            </a:r>
            <a:r>
              <a:rPr sz="1100" b="1">
                <a:solidFill>
                  <a:srgbClr val="D4A93B"/>
                </a:solidFill>
                <a:latin typeface="Arial"/>
              </a:rPr>
              <a:t>Tomoki Eda</a:t>
            </a:r>
            <a:r>
              <a:rPr sz="1100" b="0">
                <a:solidFill>
                  <a:srgbClr val="D1D1D1"/>
                </a:solidFill>
                <a:latin typeface="Arial"/>
              </a:rPr>
              <a:t>, the 4th-generation successor of Eda Livestock — a 70-year cattle-farming heritage in Miyazaki, Japan.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352044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D1D1D1"/>
                </a:solidFill>
                <a:latin typeface="Arial"/>
              </a:rPr>
              <a:t>We raise Japanese Black Wagyu using </a:t>
            </a:r>
            <a:r>
              <a:rPr sz="1100" b="1">
                <a:solidFill>
                  <a:srgbClr val="D4A93B"/>
                </a:solidFill>
                <a:latin typeface="Arial"/>
              </a:rPr>
              <a:t>circular feeding</a:t>
            </a:r>
            <a:r>
              <a:rPr sz="1100" b="0">
                <a:solidFill>
                  <a:srgbClr val="D1D1D1"/>
                </a:solidFill>
                <a:latin typeface="Arial"/>
              </a:rPr>
              <a:t>, zero antibiotics, and complete farm-to-table traceability — pioneering the world's first organic-certified Wagyu beef.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572000"/>
            <a:ext cx="25400" cy="77724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4572000"/>
            <a:ext cx="4983480" cy="777240"/>
          </a:xfrm>
          <a:prstGeom prst="rect">
            <a:avLst/>
          </a:prstGeom>
          <a:solidFill>
            <a:srgbClr val="16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617720"/>
            <a:ext cx="47548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FFFFFF"/>
                </a:solidFill>
                <a:latin typeface="Arial"/>
              </a:rPr>
              <a:t>"Not the rank, but how they're raised. We believe true quality comes from the feed, the care, and the methods behind the meat."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5532120"/>
            <a:ext cx="5029200" cy="12700"/>
          </a:xfrm>
          <a:prstGeom prst="rect">
            <a:avLst/>
          </a:prstGeom>
          <a:solidFill>
            <a:srgbClr val="4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6692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Tomoki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989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4A93B"/>
                </a:solidFill>
                <a:latin typeface="Arial Black"/>
              </a:rPr>
              <a:t>CEO · 4TH GENERATION REPRESENTATIVE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5650992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2600" b="0">
                <a:solidFill>
                  <a:srgbClr val="D4A93B"/>
                </a:solidFill>
                <a:latin typeface="Arial Black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0807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09090"/>
                </a:solidFill>
                <a:latin typeface="Arial Black"/>
              </a:rPr>
              <a:t>FOUNDED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WHY EDA WAGYU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57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3D2E"/>
                </a:solidFill>
                <a:latin typeface="Arial Black"/>
              </a:rPr>
              <a:t>What Makes Us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D4A93B"/>
                </a:solidFill>
                <a:latin typeface="Arial Black"/>
              </a:rPr>
              <a:t>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80000"/>
              </a:lnSpc>
              <a:spcBef>
                <a:spcPts val="0"/>
              </a:spcBef>
            </a:pPr>
            <a:r>
              <a:rPr sz="1200" b="0">
                <a:solidFill>
                  <a:srgbClr val="6B6B6B"/>
                </a:solidFill>
                <a:latin typeface="Arial"/>
              </a:rPr>
              <a:t>Unlike conventional Wagyu brands defined by region (Kobe, Matsusaka, Omi), Eda Wagyu is defined by how the cattle are raised — our feed and farming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80000"/>
              </a:lnSpc>
              <a:spcBef>
                <a:spcPts val="0"/>
              </a:spcBef>
            </a:pPr>
            <a:r>
              <a:rPr sz="1200" b="0">
                <a:solidFill>
                  <a:srgbClr val="6B6B6B"/>
                </a:solidFill>
                <a:latin typeface="Arial"/>
              </a:rPr>
              <a:t>This means your customers get a consistent, transparent product with a story they can verify — not just a geographic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120640"/>
            <a:ext cx="4572000" cy="4572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ONLY 1% OF JAPANESE FARMS ARE ADDITIVE-FREE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822960"/>
            <a:ext cx="2540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822960"/>
            <a:ext cx="25400" cy="82296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8686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Antibiotic &amp; Hormone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4300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Zero antibiotics, growth promoters, or hormones throughout the entire lifecycle.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2540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1965960"/>
            <a:ext cx="25400" cy="82296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79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Circular Feed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Feed produced from our own compost cycle — not imported. Structural cost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2540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3108960"/>
            <a:ext cx="25400" cy="82296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79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Grade A3+ · 28 Months+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2900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Minimum A3 grade, 28+ months fattening. Grade and region specification available.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51960"/>
            <a:ext cx="2540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4251960"/>
            <a:ext cx="25400" cy="82296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World's Only Organic Wagyu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Premium EdaWagyu holds JAS Organic + EU Leaf equivalence — first and only in the world.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394960"/>
            <a:ext cx="2540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73368" y="5394960"/>
            <a:ext cx="25400" cy="82296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Direct Export · JPY Settlement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71500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No trading house intermediaries. Direct from farm, settled in Japanese Yen.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EXPORT CUT LINEUP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3D2E"/>
                </a:solidFill>
                <a:latin typeface="Arial Black"/>
              </a:rPr>
              <a:t>Six Primal Cuts —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Chilled or Frozen, Vacuum-Packed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6B6B6B"/>
                </a:solidFill>
                <a:latin typeface="Arial"/>
              </a:rPr>
              <a:t>All cuts available chilled (0–4°C) or frozen (-18°C). Vacuum-pack or skin-pack. Custom portioning on request.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9339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Striploin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サーロイン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8716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Rich marbling in a fine web pattern. The king of steaks.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993392"/>
            <a:ext cx="868680" cy="20116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00253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BEST SELLER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9339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Ribeye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4028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リブロース / リブアイ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48716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Generous marbling with buttery flavor. Excellent for roasting.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27080" y="1993392"/>
            <a:ext cx="868680" cy="20116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27080" y="200253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POPULAR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9184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564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Tenderloin / Fillet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033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ヒレ / フィレ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5020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Only ~3kg per head. The most tender cut — perfect for chateaubriand.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3456432"/>
            <a:ext cx="868680" cy="20116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46557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PREMIUM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9184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29184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6616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4564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Round (Momo)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7033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モモ（ウチモモ · ランプ · イチボ）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95020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Lean with concentrated umami. Versatile — roast, steak, shabu-shabu.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346557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 Black"/>
              </a:rPr>
              <a:t>VERSATILE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5488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75488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91947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Tomahawk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1663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トマホーク（骨付きリブロース）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41324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Bone-in ribeye with long rib bone. Dramatic presentation cut.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4919472"/>
            <a:ext cx="868680" cy="20116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492861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SHOWPIECE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54880"/>
            <a:ext cx="5486400" cy="13258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4754880"/>
            <a:ext cx="25400" cy="132588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029200"/>
            <a:ext cx="731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800" b="1">
                <a:solidFill>
                  <a:srgbClr val="D4A93B"/>
                </a:solidFill>
                <a:latin typeface="Arial Black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91947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>
                <a:solidFill>
                  <a:srgbClr val="0F3D2E"/>
                </a:solidFill>
                <a:latin typeface="Arial Black"/>
              </a:rPr>
              <a:t>Skin Pack Portions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1663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Yu Gothic"/>
              </a:rPr>
              <a:t>スキンパック（個包装）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413248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"/>
              </a:rPr>
              <a:t>Pre-portioned 150g–300g. Retail-ready for high-end supermarkets.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27080" y="4919472"/>
            <a:ext cx="868680" cy="20116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4928616"/>
            <a:ext cx="868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RETAIL 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PRODUCT SPECIFICATION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3D2E"/>
                </a:solidFill>
                <a:latin typeface="Arial Black"/>
              </a:rPr>
              <a:t>Two Brands,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One Standard of Excellence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66420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A1A1A"/>
                </a:solidFill>
                <a:latin typeface="Arial Black"/>
              </a:rPr>
              <a:t>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6420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Arial Black"/>
              </a:rPr>
              <a:t>Eda Wagyu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6420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Arial Black"/>
              </a:rPr>
              <a:t>Premium EdaWagyu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560320" cy="36576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6420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A1A1A"/>
                </a:solidFill>
                <a:latin typeface="Arial Black"/>
              </a:rPr>
              <a:t>Conventional Wagyu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057400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Breed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Japanese Black (Kuroge)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40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Japanese Black (Kuroge)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77440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057400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Japanese Black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37744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404872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Antibiotics / Hormones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724912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404872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Zero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724912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404872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Zero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724912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2404872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724912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2752344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Feed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072384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2752344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Circular (domestic)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072384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752344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100% Organic-certified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072384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752344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Imported compound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072384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3099816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Minimum Grade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419856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3099816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A3+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419856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3099816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A3+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419856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099816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Varies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419856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344728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Fattening Period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76732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344728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28+ months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767328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344728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31+ months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3767328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44728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24–26 months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76732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" y="3794760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Regions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11480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37947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Miyazaki · Kagoshima · Tohoku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114800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37947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Miyazaki only (Eda Farm)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114800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3794760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Single prefecture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114800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19" y="4142232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Organic Certification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4462272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0" y="4142232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4462272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4142232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JAS + EU Leaf + USDA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4462272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0" y="4142232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0" y="4462272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19" y="4489704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HALAL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4809744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0" y="4489704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Available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4809744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35040" y="4489704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Not available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4809744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0" y="4489704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Limited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4809744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19" y="4837176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Animal Welfare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5157216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91840" y="4837176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Compliant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5157216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35040" y="4837176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Organic standard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0" y="5157216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0" y="4837176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CCCCCC"/>
                </a:solidFill>
                <a:latin typeface="Arial"/>
              </a:rPr>
              <a:t>No standard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0" y="5157216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19" y="518464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Traceability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550468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91840" y="518464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Full (birth–table)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0" y="5504688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35040" y="5184648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0F3D2E"/>
                </a:solidFill>
                <a:latin typeface="Arial"/>
              </a:rPr>
              <a:t>✓ Full (birth–table)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5504688"/>
            <a:ext cx="27432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0" y="5184648"/>
            <a:ext cx="23774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Arial"/>
              </a:rPr>
              <a:t>Partial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86800" y="550468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" y="5687568"/>
            <a:ext cx="603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PREMIUM EDAWAGYU IS AVAILABLE EXCLUSIVELY TO EXISTING EDA WAGYU CUSTOMERS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LOGISTICS &amp; SHIPPING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 Black"/>
              </a:rPr>
              <a:t>Farm to Your Designated Port in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~1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8C8C8C"/>
                </a:solidFill>
                <a:latin typeface="Arial"/>
              </a:rPr>
              <a:t>Chilled or frozen — you choose. We handle export documents, customs clearance, and freight to your designated 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74720" cy="2560320"/>
          </a:xfrm>
          <a:prstGeom prst="rect">
            <a:avLst/>
          </a:prstGeom>
          <a:solidFill>
            <a:srgbClr val="124535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381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PHASE 1 —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Order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Purchase order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3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Invoice issued (JPY)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30% deposit received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7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Slaughter scheduled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474720" cy="2560320"/>
          </a:xfrm>
          <a:prstGeom prst="rect">
            <a:avLst/>
          </a:prstGeom>
          <a:solidFill>
            <a:srgbClr val="124535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474720" cy="381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PHASE 2 —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Documents &amp; Shipping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Health Certificate issued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3463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Packing List prepared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108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Commercial Invoice finalized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38327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HALAL cert (if applicable)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5760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70% balance payment received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474720" cy="2560320"/>
          </a:xfrm>
          <a:prstGeom prst="rect">
            <a:avLst/>
          </a:prstGeom>
          <a:solidFill>
            <a:srgbClr val="124535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474720" cy="381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PHASE 3 —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Shipment &amp; Arrival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6032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AWB (Air Waybill) issued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3463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EQC (Export Quarantine Cert)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0896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Certificate of Origin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83279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Freight to designated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5760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→ Arrival confirmation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25400" cy="73152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709160"/>
            <a:ext cx="32918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D4A93B"/>
                </a:solidFill>
                <a:latin typeface="Arial Black"/>
              </a:rPr>
              <a:t>TEMPERATURE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93776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Chilled: 0–4°C or Frozen: -18°C.</a:t>
            </a:r>
            <a:br/>
            <a:r>
              <a:t>Buyer specifies at order.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663440"/>
            <a:ext cx="25400" cy="73152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709160"/>
            <a:ext cx="32918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D4A93B"/>
                </a:solidFill>
                <a:latin typeface="Arial Black"/>
              </a:rPr>
              <a:t>PACKAGING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93776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Vacuum-pack (standard) or skin-pack (retail).</a:t>
            </a:r>
            <a:br/>
            <a:r>
              <a:t>Styrofoam box with gel ice / dry 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663440"/>
            <a:ext cx="25400" cy="73152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709160"/>
            <a:ext cx="32918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D4A93B"/>
                </a:solidFill>
                <a:latin typeface="Arial Black"/>
              </a:rPr>
              <a:t>SHELF LIFE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937760"/>
            <a:ext cx="3291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110 days from production.</a:t>
            </a:r>
            <a:br/>
            <a:r>
              <a:t>Approx. 90 days remaining at arrival.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COMMERCIAL TERMS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3D2E"/>
                </a:solidFill>
                <a:latin typeface="Arial Black"/>
              </a:rPr>
              <a:t>Transparent Terms,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Built for Long-Term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0F3D2E"/>
                </a:solidFill>
                <a:latin typeface="Arial Black"/>
              </a:rPr>
              <a:t>Order &amp;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Japanese Yen (JPY) — all invoices in 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0604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Deposit 30% at order confirmation</a:t>
            </a:r>
            <a:br/>
            <a:r>
              <a:t>Balance 70% before shipping</a:t>
            </a:r>
            <a:br/>
            <a:r>
              <a:t>This rule applies to all clients without exception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0040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Approx. 4 weeks from deposit to port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MOQ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9476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200 kg per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8912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Based on JPY/kg · Grade and region affect 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EXCLUSIVITY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83480"/>
            <a:ext cx="38404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Currently exclusive in 3 countries.</a:t>
            </a:r>
            <a:br/>
            <a:r>
              <a:t>Inquire separately for distribution rights.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86400"/>
            <a:ext cx="5212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544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0F3D2E"/>
                </a:solidFill>
                <a:latin typeface="Arial Black"/>
              </a:rPr>
              <a:t>Shipping &amp;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0116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INCOTERMS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011680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FOB or CIF — buyer's choice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468880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542032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FREIGHT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542032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Air freight, chilled or frozen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999232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07238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72384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Approx. 4 weeks to designated port</a:t>
            </a:r>
            <a:br/>
            <a:r>
              <a:t>Customs clearance by buyer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29584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602736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SHELF LIFE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602736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110 days from production</a:t>
            </a:r>
            <a:br/>
            <a:r>
              <a:t>~90 days remaining at arrival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059936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133088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CUSTOM CUT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33088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Thickness, portioning, and trim to spec.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590288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6634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B8932F"/>
                </a:solidFill>
                <a:latin typeface="Arial Black"/>
              </a:rPr>
              <a:t>GRADE SELECT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663440"/>
            <a:ext cx="4114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A1A1A"/>
                </a:solidFill>
                <a:latin typeface="Arial"/>
              </a:rPr>
              <a:t>A3/A4/A5 specification available.</a:t>
            </a:r>
            <a:br/>
            <a:r>
              <a:t>Region lock = price premium.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120640"/>
            <a:ext cx="557784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CERTIFICATIONS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 Black"/>
              </a:rPr>
              <a:t>Trust, Verified by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International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011680" cy="2011680"/>
          </a:xfrm>
          <a:prstGeom prst="rect">
            <a:avLst/>
          </a:prstGeom>
          <a:solidFill>
            <a:srgbClr val="143A2A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sticker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731520" cy="849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4688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Arial Black"/>
              </a:rPr>
              <a:t>Eda Wagyu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BOTH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Proprietary brand cert.</a:t>
            </a:r>
            <a:br/>
            <a:r>
              <a:t>Antibiotic-free, hormone-free.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45920"/>
            <a:ext cx="2011680" cy="2011680"/>
          </a:xfrm>
          <a:prstGeom prst="rect">
            <a:avLst/>
          </a:prstGeom>
          <a:solidFill>
            <a:srgbClr val="0D3022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Arial Black"/>
              </a:rPr>
              <a:t>HALAL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432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EDA WAGYU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718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Certified for Malaysia, Indonesia,</a:t>
            </a:r>
            <a:br/>
            <a:r>
              <a:t>and Islamic markets.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2011680"/>
          </a:xfrm>
          <a:prstGeom prst="rect">
            <a:avLst/>
          </a:prstGeom>
          <a:solidFill>
            <a:srgbClr val="0D3022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Arial Black"/>
              </a:rPr>
              <a:t>USDA Organic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PREMIUM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718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Application in progress.</a:t>
            </a:r>
            <a:br/>
            <a:r>
              <a:t>Targeting US organic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645920"/>
            <a:ext cx="2011680" cy="2011680"/>
          </a:xfrm>
          <a:prstGeom prst="rect">
            <a:avLst/>
          </a:prstGeom>
          <a:solidFill>
            <a:srgbClr val="0D3022"/>
          </a:solidFill>
          <a:ln w="12700">
            <a:solidFill>
              <a:srgbClr val="1A5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4688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Arial Black"/>
              </a:rPr>
              <a:t>EU Leaf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432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PREMIUM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9718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Approved. Organic-labeled</a:t>
            </a:r>
            <a:br/>
            <a:r>
              <a:t>export to all EU states.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645920"/>
            <a:ext cx="2011680" cy="2011680"/>
          </a:xfrm>
          <a:prstGeom prst="rect">
            <a:avLst/>
          </a:prstGeom>
          <a:solidFill>
            <a:srgbClr val="143A2A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Arial Black"/>
              </a:rPr>
              <a:t>JAS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D4A93B"/>
                </a:solidFill>
                <a:latin typeface="Arial Black"/>
              </a:rPr>
              <a:t>PREMIUM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9718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900" b="0">
                <a:solidFill>
                  <a:srgbClr val="D1D1D1"/>
                </a:solidFill>
                <a:latin typeface="Arial"/>
              </a:rPr>
              <a:t>World's first organic-certified</a:t>
            </a:r>
            <a:br/>
            <a:r>
              <a:t>Kuroge Wagyu. Jan 2026.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40480"/>
            <a:ext cx="10881360" cy="1463040"/>
          </a:xfrm>
          <a:prstGeom prst="rect">
            <a:avLst/>
          </a:prstGeom>
          <a:noFill/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7763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FOR YOUR MENU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B0B0B0"/>
                </a:solidFill>
                <a:latin typeface="Arial"/>
              </a:rPr>
              <a:t>"Antibiotic-free," "Hormone-free," "Organic-certified" — menu claims your guests actively seek.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7763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FOR YOUR BRAND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0624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B0B0B0"/>
                </a:solidFill>
                <a:latin typeface="Arial"/>
              </a:rPr>
              <a:t>Sustainability, traceability, and animal welfare are expected by luxury consumers.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97763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FOR YOUR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20624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B0B0B0"/>
                </a:solidFill>
                <a:latin typeface="Arial"/>
              </a:rPr>
              <a:t>EU import regulations, HALAL requirements, organic labeling — we handle the paperwork.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WHERE EDA WAGYU IS SERVED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3D2E"/>
                </a:solidFill>
                <a:latin typeface="Arial Black"/>
              </a:rPr>
              <a:t>Trusted by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The World's Finest Hotels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60320" cy="1005840"/>
          </a:xfrm>
          <a:prstGeom prst="rect">
            <a:avLst/>
          </a:prstGeom>
          <a:solidFill>
            <a:srgbClr val="F8F3E8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THE RITZ-CARLTON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Tokyo · Fukuoka · Hong Kong · New York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2560320" cy="1005840"/>
          </a:xfrm>
          <a:prstGeom prst="rect">
            <a:avLst/>
          </a:prstGeom>
          <a:solidFill>
            <a:srgbClr val="F8F3E8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FOUR SEASONS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Tokyo at Otemachi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solidFill>
            <a:srgbClr val="F8F3E8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THE PENINSULA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Tokyo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554480"/>
            <a:ext cx="2560320" cy="1005840"/>
          </a:xfrm>
          <a:prstGeom prst="rect">
            <a:avLst/>
          </a:prstGeom>
          <a:solidFill>
            <a:srgbClr val="F8F3E8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7830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MANDARIN ORIENTAL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0312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Tokyo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43200"/>
            <a:ext cx="2560320" cy="1005840"/>
          </a:xfrm>
          <a:prstGeom prst="rect">
            <a:avLst/>
          </a:prstGeom>
          <a:noFill/>
          <a:ln w="12700">
            <a:solidFill>
              <a:srgbClr val="EFE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TOKYO STATION HOTEL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National Heritage · Tokyo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743200"/>
            <a:ext cx="2560320" cy="1005840"/>
          </a:xfrm>
          <a:prstGeom prst="rect">
            <a:avLst/>
          </a:prstGeom>
          <a:noFill/>
          <a:ln w="12700">
            <a:solidFill>
              <a:srgbClr val="EFE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9718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EDITION GINZA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91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Marriott Luxury · Ginza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743200"/>
            <a:ext cx="2560320" cy="1005840"/>
          </a:xfrm>
          <a:prstGeom prst="rect">
            <a:avLst/>
          </a:prstGeom>
          <a:noFill/>
          <a:ln w="12700">
            <a:solidFill>
              <a:srgbClr val="EFE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9718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CITY'SUPER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91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All stores · Hong Kong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743200"/>
            <a:ext cx="2560320" cy="1005840"/>
          </a:xfrm>
          <a:prstGeom prst="rect">
            <a:avLst/>
          </a:prstGeom>
          <a:noFill/>
          <a:ln w="12700">
            <a:solidFill>
              <a:srgbClr val="EFE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9718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0F3D2E"/>
                </a:solidFill>
                <a:latin typeface="Arial"/>
              </a:rPr>
              <a:t>MITSUKOSHI · KEIO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91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Ginza · Nihonbashi · Shinjuku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200" b="0">
                <a:solidFill>
                  <a:srgbClr val="D4A93B"/>
                </a:solidFill>
                <a:latin typeface="Arial Black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1188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 Black"/>
              </a:rPr>
              <a:t>LOCATIONS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206240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200" b="0">
                <a:solidFill>
                  <a:srgbClr val="D4A93B"/>
                </a:solidFill>
                <a:latin typeface="Arial Black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754880"/>
            <a:ext cx="1188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 Black"/>
              </a:rPr>
              <a:t>COUNTRIES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206240"/>
            <a:ext cx="1188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200" b="0">
                <a:solidFill>
                  <a:srgbClr val="D4A93B"/>
                </a:solidFill>
                <a:latin typeface="Arial Black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754880"/>
            <a:ext cx="11887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6B6B6B"/>
                </a:solidFill>
                <a:latin typeface="Arial Black"/>
              </a:rPr>
              <a:t>CONTINENTS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5486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70000"/>
              </a:lnSpc>
              <a:spcBef>
                <a:spcPts val="0"/>
              </a:spcBef>
            </a:pPr>
            <a:r>
              <a:rPr sz="1100" b="0">
                <a:solidFill>
                  <a:srgbClr val="6B6B6B"/>
                </a:solidFill>
                <a:latin typeface="Arial"/>
              </a:rPr>
              <a:t>Also served at ANA International First Class, Tokyo DisneySea, WITH THE STYLE Fukuoka, and fine-dining restaurants across Europe and Southeast Asia.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BRANDED MATERIALS · SOLD SEPARATELY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3D2E"/>
                </a:solidFill>
                <a:latin typeface="Arial Black"/>
              </a:rPr>
              <a:t>Elevate Your Presentation with </a:t>
            </a:r>
            <a:r>
              <a:rPr sz="2400" b="1">
                <a:solidFill>
                  <a:srgbClr val="D4A93B"/>
                </a:solidFill>
                <a:latin typeface="Arial Black"/>
              </a:rPr>
              <a:t>Eda Wagyu Originals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6B6B6B"/>
                </a:solidFill>
                <a:latin typeface="Arial"/>
              </a:rPr>
              <a:t>Optional brand materials available for purchase. Strengthen the in-store and dining experience with authentic, hand-crafted Eda Wagyu items.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703320" cy="1325880"/>
          </a:xfrm>
          <a:prstGeom prst="rect">
            <a:avLst/>
          </a:prstGeom>
          <a:solidFill>
            <a:srgbClr val="0A2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-box-g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2600"/>
            <a:ext cx="3703320" cy="152396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592600"/>
            <a:ext cx="3703320" cy="990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703320" cy="990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6479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7393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9067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Original Branded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9184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江田和牛 オリジナル 化粧箱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7472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¥1,100 /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8503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Premium green &amp; gold-foil packaging with Hokusai-inspired wave and Mt. Fuji motif.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703320" cy="1325880"/>
          </a:xfrm>
          <a:prstGeom prst="rect">
            <a:avLst/>
          </a:prstGeom>
          <a:solidFill>
            <a:srgbClr val="0A2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mphlet-d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5468"/>
            <a:ext cx="3703320" cy="123822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34840" y="176479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77393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EN / 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09067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Brand Pamphlet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29184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3つ折りパンフレット（表・裏）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47472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¥440 / PIECE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68503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Bilingual 3-fold brochure (2 sides) detailing philosophy, farming, and certifications.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6916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691640"/>
            <a:ext cx="3703320" cy="1325880"/>
          </a:xfrm>
          <a:prstGeom prst="rect">
            <a:avLst/>
          </a:prstGeom>
          <a:solidFill>
            <a:srgbClr val="0A2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ert-cle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353" y="1691640"/>
            <a:ext cx="968933" cy="13258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29600" y="176479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77393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AUTHENTIC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09067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Eda Wagyu Certificate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29184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江田和牛 証明書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47472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¥550 / 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68503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Individual carcass certificate (Cattle ID, Grade, Farm, Origin).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6908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69080"/>
            <a:ext cx="3703320" cy="1325880"/>
          </a:xfrm>
          <a:prstGeom prst="rect">
            <a:avLst/>
          </a:prstGeom>
          <a:solidFill>
            <a:srgbClr val="0A2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go-stick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139" y="4069080"/>
            <a:ext cx="1598321" cy="13258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40080" y="414223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15137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SET OF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46811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Brand Sticker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66928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江田和牛 ロゴシール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85216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¥980 / 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06247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Forest-green and gold seal stickers for packaging, gift wrap, and retail.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406908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4069080"/>
            <a:ext cx="3703320" cy="132588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atami-plat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608" y="4069080"/>
            <a:ext cx="1216903" cy="132588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434840" y="414223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415137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HANDMADE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546811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Display Plate (Tatami)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66928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立て札 — 畳バージョン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8" y="585216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¥38,000 / PLATE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53128" y="606247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Traditional tatami-textured display with embroidered "江田和牛" gold branding.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06908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4069080"/>
            <a:ext cx="3703320" cy="132588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wood-pla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286" y="4069080"/>
            <a:ext cx="1235066" cy="132588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8229600" y="4142232"/>
            <a:ext cx="640080" cy="1828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4151376"/>
            <a:ext cx="6400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D4A93B"/>
                </a:solidFill>
                <a:latin typeface="Arial Black"/>
              </a:rPr>
              <a:t>PREMIUM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5468112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0F3D2E"/>
                </a:solidFill>
                <a:latin typeface="Arial Black"/>
              </a:rPr>
              <a:t>Display Plate (Wood)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5669280"/>
            <a:ext cx="3483864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B8932F"/>
                </a:solidFill>
                <a:latin typeface="Yu Gothic"/>
              </a:rPr>
              <a:t>立て札 — 木製バージョン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5852160"/>
            <a:ext cx="34838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D4A93B"/>
                </a:solidFill>
                <a:latin typeface="Arial Black"/>
              </a:rPr>
              <a:t>¥77,000 / PLATE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6062472"/>
            <a:ext cx="34838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800" b="0">
                <a:solidFill>
                  <a:srgbClr val="6B6B6B"/>
                </a:solidFill>
                <a:latin typeface="Arial"/>
              </a:rPr>
              <a:t>Premium solid wood with engraved "江田和牛" — luxury statement piece.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999999"/>
                </a:solidFill>
                <a:latin typeface="Arial Black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— HOW TO ORDER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Arial Black"/>
              </a:rPr>
              <a:t>From Inquiry to Delivery — </a:t>
            </a:r>
            <a:r>
              <a:rPr sz="2600" b="1">
                <a:solidFill>
                  <a:srgbClr val="D4A93B"/>
                </a:solidFill>
                <a:latin typeface="Arial Black"/>
              </a:rPr>
              <a:t>Simple &amp;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920240"/>
            <a:ext cx="685800" cy="685800"/>
          </a:xfrm>
          <a:prstGeom prst="rect">
            <a:avLst/>
          </a:prstGeom>
          <a:noFill/>
          <a:ln w="254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965960"/>
            <a:ext cx="685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D4A93B"/>
                </a:solidFill>
                <a:latin typeface="Arial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Contact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Email your interest, preferred cuts, volume, and destination. We reply within 24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20240"/>
            <a:ext cx="685800" cy="685800"/>
          </a:xfrm>
          <a:prstGeom prst="rect">
            <a:avLst/>
          </a:prstGeom>
          <a:noFill/>
          <a:ln w="254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685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D4A93B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Quotation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We send a JPY price list tailored to your order. Custom cuts and grades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1920240"/>
            <a:ext cx="685800" cy="685800"/>
          </a:xfrm>
          <a:prstGeom prst="rect">
            <a:avLst/>
          </a:prstGeom>
          <a:noFill/>
          <a:ln w="254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965960"/>
            <a:ext cx="685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D4A93B"/>
                </a:solidFill>
                <a:latin typeface="Arial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Deposit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Sign purchase order and send 30% deposit. Slaughter is scheduled upon receipt.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1920240"/>
            <a:ext cx="685800" cy="685800"/>
          </a:xfrm>
          <a:prstGeom prst="rect">
            <a:avLst/>
          </a:prstGeom>
          <a:noFill/>
          <a:ln w="25400">
            <a:solidFill>
              <a:srgbClr val="D4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965960"/>
            <a:ext cx="685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D4A93B"/>
                </a:solidFill>
                <a:latin typeface="Arial Blac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346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Arial Black"/>
              </a:rPr>
              <a:t>Balance &amp; 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Pay remaining 70% before shipping. Documents + freight arranged to your designated 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3383280" cy="254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FIRST ORDER?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We accommodate smaller first orders so you can test with your kitchen team before scaling.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19" y="4206240"/>
            <a:ext cx="3383280" cy="254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43434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REGULAR BUYER?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5720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Established accounts receive priority scheduling and access to Premium EdaWagyu (organic).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4206240"/>
            <a:ext cx="3383280" cy="254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8" y="434340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D4A93B"/>
                </a:solidFill>
                <a:latin typeface="Arial Black"/>
              </a:rPr>
              <a:t>DISTRIBUTOR?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8" y="45720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000" b="0">
                <a:solidFill>
                  <a:srgbClr val="D1D1D1"/>
                </a:solidFill>
                <a:latin typeface="Arial"/>
              </a:rPr>
              <a:t>We partner with local importers and distributors. Exclusive territory rights negotiable.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EDA WAGYU — BUYER'S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64465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>
                <a:solidFill>
                  <a:srgbClr val="808080"/>
                </a:solidFill>
                <a:latin typeface="Arial Black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da-livestock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371600" cy="11390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 Black"/>
              </a:rPr>
              <a:t>Ready to </a:t>
            </a:r>
            <a:r>
              <a:rPr sz="4000" b="1">
                <a:solidFill>
                  <a:srgbClr val="D4A93B"/>
                </a:solidFill>
                <a:latin typeface="Arial Black"/>
              </a:rPr>
              <a:t>Taste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566160"/>
            <a:ext cx="5760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8C8C8C"/>
                </a:solidFill>
                <a:latin typeface="Arial"/>
              </a:rPr>
              <a:t>Request a price list or schedule a call with our export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97680"/>
            <a:ext cx="256032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434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D4A93B"/>
                </a:solidFill>
                <a:latin typeface="Arial Black"/>
              </a:rPr>
              <a:t>EXPORT INQUIRIES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0916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>Tomoki Eda — CEO / 4th Generation Representative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4A93B"/>
                </a:solidFill>
                <a:latin typeface="Arial"/>
              </a:rPr>
              <a:t>international.sales@eda-livestock.com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>We respond within 24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4297680"/>
            <a:ext cx="2560320" cy="12700"/>
          </a:xfrm>
          <a:prstGeom prst="rect">
            <a:avLst/>
          </a:prstGeom>
          <a:solidFill>
            <a:srgbClr val="D4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43484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D4A93B"/>
                </a:solidFill>
                <a:latin typeface="Arial Black"/>
              </a:rPr>
              <a:t>HEADQUARTERS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70916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>Eda Livestock Co., Ltd.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>2025-2 Hirohara, Takaharu-cho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>Miyazaki 889-4411, Japan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1D1D1"/>
                </a:solidFill>
                <a:latin typeface="Arial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4A93B"/>
                </a:solidFill>
                <a:latin typeface="Arial"/>
              </a:rPr>
              <a:t>backoffice@eda-livestock.com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D4A93B"/>
                </a:solidFill>
                <a:latin typeface="Arial"/>
              </a:rPr>
              <a:t>eda-livestock.com · @eda_livestock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800" b="0">
                <a:solidFill>
                  <a:srgbClr val="404040"/>
                </a:solidFill>
                <a:latin typeface="Arial Black"/>
              </a:rPr>
              <a:t>© 2026 EDA-LIVESTOCK CO., LTD.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